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2" r:id="rId2"/>
    <p:sldId id="283" r:id="rId3"/>
    <p:sldId id="286" r:id="rId4"/>
    <p:sldId id="287" r:id="rId5"/>
    <p:sldId id="288" r:id="rId6"/>
    <p:sldId id="291" r:id="rId7"/>
    <p:sldId id="289" r:id="rId8"/>
    <p:sldId id="309" r:id="rId9"/>
    <p:sldId id="307" r:id="rId10"/>
    <p:sldId id="313" r:id="rId11"/>
    <p:sldId id="314" r:id="rId12"/>
    <p:sldId id="312" r:id="rId13"/>
    <p:sldId id="292" r:id="rId14"/>
    <p:sldId id="294" r:id="rId15"/>
    <p:sldId id="306" r:id="rId16"/>
    <p:sldId id="295" r:id="rId17"/>
    <p:sldId id="296" r:id="rId18"/>
    <p:sldId id="297" r:id="rId19"/>
    <p:sldId id="315" r:id="rId20"/>
    <p:sldId id="299" r:id="rId21"/>
    <p:sldId id="301" r:id="rId22"/>
    <p:sldId id="302" r:id="rId23"/>
    <p:sldId id="303" r:id="rId24"/>
    <p:sldId id="30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01B759-7B1C-49D5-AAC2-69B87C132E0F}">
          <p14:sldIdLst>
            <p14:sldId id="282"/>
            <p14:sldId id="283"/>
            <p14:sldId id="286"/>
            <p14:sldId id="287"/>
            <p14:sldId id="288"/>
            <p14:sldId id="291"/>
            <p14:sldId id="289"/>
            <p14:sldId id="309"/>
            <p14:sldId id="307"/>
            <p14:sldId id="313"/>
            <p14:sldId id="314"/>
            <p14:sldId id="312"/>
            <p14:sldId id="292"/>
            <p14:sldId id="294"/>
            <p14:sldId id="306"/>
            <p14:sldId id="295"/>
            <p14:sldId id="296"/>
            <p14:sldId id="297"/>
            <p14:sldId id="315"/>
            <p14:sldId id="299"/>
            <p14:sldId id="301"/>
            <p14:sldId id="302"/>
            <p14:sldId id="303"/>
            <p14:sldId id="305"/>
          </p14:sldIdLst>
        </p14:section>
      </p14:sectionLst>
    </p:ext>
    <p:ext uri="{EFAFB233-063F-42B5-8137-9DF3F51BA10A}">
      <p15:sldGuideLst xmlns:p15="http://schemas.microsoft.com/office/powerpoint/2012/main">
        <p15:guide id="1" orient="horz" pos="2137" userDrawn="1">
          <p15:clr>
            <a:srgbClr val="A4A3A4"/>
          </p15:clr>
        </p15:guide>
        <p15:guide id="2" pos="3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6C37"/>
    <a:srgbClr val="089E46"/>
    <a:srgbClr val="04C4EB"/>
    <a:srgbClr val="CCCCCC"/>
    <a:srgbClr val="05295B"/>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99" autoAdjust="0"/>
    <p:restoredTop sz="85835" autoAdjust="0"/>
  </p:normalViewPr>
  <p:slideViewPr>
    <p:cSldViewPr snapToGrid="0" snapToObjects="1">
      <p:cViewPr varScale="1">
        <p:scale>
          <a:sx n="83" d="100"/>
          <a:sy n="83" d="100"/>
        </p:scale>
        <p:origin x="366" y="300"/>
      </p:cViewPr>
      <p:guideLst>
        <p:guide orient="horz" pos="2137"/>
        <p:guide pos="3885"/>
      </p:guideLst>
    </p:cSldViewPr>
  </p:slideViewPr>
  <p:notesTextViewPr>
    <p:cViewPr>
      <p:scale>
        <a:sx n="100" d="100"/>
        <a:sy n="100" d="100"/>
      </p:scale>
      <p:origin x="0" y="0"/>
    </p:cViewPr>
  </p:notesTextViewPr>
  <p:sorterViewPr>
    <p:cViewPr>
      <p:scale>
        <a:sx n="100" d="100"/>
        <a:sy n="100" d="100"/>
      </p:scale>
      <p:origin x="0" y="-230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3125A-D509-46BA-84CA-7DB539E677F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182515-AE3C-4C40-BA5B-BE9A18C93112}">
      <dgm:prSet custT="1"/>
      <dgm:spPr/>
      <dgm:t>
        <a:bodyPr/>
        <a:lstStyle/>
        <a:p>
          <a:r>
            <a:rPr lang="en-US" sz="1600" b="1" dirty="0"/>
            <a:t>Dataset:</a:t>
          </a:r>
          <a:r>
            <a:rPr lang="en-SG" sz="1600" b="1" dirty="0"/>
            <a:t> </a:t>
          </a:r>
          <a:r>
            <a:rPr lang="en-SG" sz="1600" dirty="0"/>
            <a:t>4 csv files for </a:t>
          </a:r>
          <a:r>
            <a:rPr lang="en-US" sz="1600" dirty="0"/>
            <a:t>HDB Resale Prices (2000–2023)</a:t>
          </a:r>
        </a:p>
      </dgm:t>
    </dgm:pt>
    <dgm:pt modelId="{D2132194-D9FE-4634-AE33-8A69929C0B18}" type="parTrans" cxnId="{B440A9F1-6831-40EF-ACA4-84D520FB4E3A}">
      <dgm:prSet/>
      <dgm:spPr/>
      <dgm:t>
        <a:bodyPr/>
        <a:lstStyle/>
        <a:p>
          <a:endParaRPr lang="en-US"/>
        </a:p>
      </dgm:t>
    </dgm:pt>
    <dgm:pt modelId="{0A79CE6A-02EE-41F7-A7FE-22C63B995CFD}" type="sibTrans" cxnId="{B440A9F1-6831-40EF-ACA4-84D520FB4E3A}">
      <dgm:prSet/>
      <dgm:spPr/>
      <dgm:t>
        <a:bodyPr/>
        <a:lstStyle/>
        <a:p>
          <a:endParaRPr lang="en-US"/>
        </a:p>
      </dgm:t>
    </dgm:pt>
    <dgm:pt modelId="{61FF37A4-2704-4FBB-AE44-DCDAFF7588DE}">
      <dgm:prSet custT="1"/>
      <dgm:spPr/>
      <dgm:t>
        <a:bodyPr/>
        <a:lstStyle/>
        <a:p>
          <a:r>
            <a:rPr lang="en-SG" sz="1600" b="1" dirty="0"/>
            <a:t>Time Period: </a:t>
          </a:r>
          <a:r>
            <a:rPr lang="en-SG" sz="1600" dirty="0"/>
            <a:t>Jan 2000 – Dec 2023</a:t>
          </a:r>
          <a:endParaRPr lang="en-US" sz="1600" dirty="0"/>
        </a:p>
      </dgm:t>
    </dgm:pt>
    <dgm:pt modelId="{70737981-2F1F-4011-A914-05544D0691F6}" type="parTrans" cxnId="{C4B749AF-79B1-47DE-8F19-0320352AB07C}">
      <dgm:prSet/>
      <dgm:spPr/>
      <dgm:t>
        <a:bodyPr/>
        <a:lstStyle/>
        <a:p>
          <a:endParaRPr lang="en-US"/>
        </a:p>
      </dgm:t>
    </dgm:pt>
    <dgm:pt modelId="{8F32A0B4-00C2-4561-89C6-0AB99C20E26D}" type="sibTrans" cxnId="{C4B749AF-79B1-47DE-8F19-0320352AB07C}">
      <dgm:prSet/>
      <dgm:spPr/>
      <dgm:t>
        <a:bodyPr/>
        <a:lstStyle/>
        <a:p>
          <a:endParaRPr lang="en-US"/>
        </a:p>
      </dgm:t>
    </dgm:pt>
    <dgm:pt modelId="{C6B3CED8-BBBF-46C2-A006-193072301CC9}">
      <dgm:prSet custT="1"/>
      <dgm:spPr/>
      <dgm:t>
        <a:bodyPr/>
        <a:lstStyle/>
        <a:p>
          <a:r>
            <a:rPr lang="en-US" sz="1600" b="1" dirty="0"/>
            <a:t>Key Variables: </a:t>
          </a:r>
          <a:r>
            <a:rPr lang="en-US" sz="1600" dirty="0"/>
            <a:t>Town, Flat Type, Floor Area, Lease Commencement,</a:t>
          </a:r>
          <a:r>
            <a:rPr lang="en-SG" sz="1600" dirty="0"/>
            <a:t> Resale </a:t>
          </a:r>
          <a:r>
            <a:rPr lang="en-US" sz="1600" dirty="0"/>
            <a:t>Price, </a:t>
          </a:r>
          <a:r>
            <a:rPr lang="en-SG" sz="1600" dirty="0"/>
            <a:t>Sale</a:t>
          </a:r>
          <a:r>
            <a:rPr lang="en-US" sz="1600" dirty="0"/>
            <a:t> Date</a:t>
          </a:r>
          <a:r>
            <a:rPr lang="en-SG" sz="1600" dirty="0"/>
            <a:t>, Street Name, Storey Range </a:t>
          </a:r>
          <a:endParaRPr lang="en-US" sz="1600" dirty="0"/>
        </a:p>
      </dgm:t>
    </dgm:pt>
    <dgm:pt modelId="{64355FBB-7564-4AFA-83C9-FDB1987BC503}" type="parTrans" cxnId="{FB1ADB4C-70C7-451C-91C5-6B7067D036CB}">
      <dgm:prSet/>
      <dgm:spPr/>
      <dgm:t>
        <a:bodyPr/>
        <a:lstStyle/>
        <a:p>
          <a:endParaRPr lang="en-US"/>
        </a:p>
      </dgm:t>
    </dgm:pt>
    <dgm:pt modelId="{464202A1-4782-4813-83EA-BEC60B8057FE}" type="sibTrans" cxnId="{FB1ADB4C-70C7-451C-91C5-6B7067D036CB}">
      <dgm:prSet/>
      <dgm:spPr/>
      <dgm:t>
        <a:bodyPr/>
        <a:lstStyle/>
        <a:p>
          <a:endParaRPr lang="en-US"/>
        </a:p>
      </dgm:t>
    </dgm:pt>
    <dgm:pt modelId="{15CDF818-31F6-465C-AE34-C3B2A9AD9F64}">
      <dgm:prSet custT="1"/>
      <dgm:spPr/>
      <dgm:t>
        <a:bodyPr/>
        <a:lstStyle/>
        <a:p>
          <a:r>
            <a:rPr lang="en-US" sz="1600" b="1" dirty="0"/>
            <a:t>Scope: </a:t>
          </a:r>
          <a:r>
            <a:rPr lang="en-US" sz="1600" dirty="0"/>
            <a:t>23 years of resale transactions across Singapore</a:t>
          </a:r>
        </a:p>
      </dgm:t>
    </dgm:pt>
    <dgm:pt modelId="{34A51610-7BF8-4A11-AED1-71549697143E}" type="parTrans" cxnId="{5ABDD539-1E6D-4A51-B58F-7961F05EBAAD}">
      <dgm:prSet/>
      <dgm:spPr/>
      <dgm:t>
        <a:bodyPr/>
        <a:lstStyle/>
        <a:p>
          <a:endParaRPr lang="en-US"/>
        </a:p>
      </dgm:t>
    </dgm:pt>
    <dgm:pt modelId="{58955AC9-E987-457B-9BA4-7448FCB566DC}" type="sibTrans" cxnId="{5ABDD539-1E6D-4A51-B58F-7961F05EBAAD}">
      <dgm:prSet/>
      <dgm:spPr/>
      <dgm:t>
        <a:bodyPr/>
        <a:lstStyle/>
        <a:p>
          <a:endParaRPr lang="en-US"/>
        </a:p>
      </dgm:t>
    </dgm:pt>
    <dgm:pt modelId="{D4D668F7-58F2-4D50-B2D0-EB3EE6929E82}">
      <dgm:prSet custT="1"/>
      <dgm:spPr/>
      <dgm:t>
        <a:bodyPr/>
        <a:lstStyle/>
        <a:p>
          <a:r>
            <a:rPr lang="en-US" sz="1600" b="1" dirty="0"/>
            <a:t>Tools: </a:t>
          </a:r>
          <a:r>
            <a:rPr lang="en-US" sz="1600" dirty="0"/>
            <a:t>Power BI, DAX</a:t>
          </a:r>
          <a:r>
            <a:rPr lang="en-US" sz="1600"/>
            <a:t>, SQL, </a:t>
          </a:r>
          <a:r>
            <a:rPr lang="en-SG" sz="1600" dirty="0"/>
            <a:t>Power Query(M Language)</a:t>
          </a:r>
          <a:endParaRPr lang="en-US" sz="1600" dirty="0"/>
        </a:p>
      </dgm:t>
    </dgm:pt>
    <dgm:pt modelId="{444361F8-A8D8-469F-9647-38CA2A4F1579}" type="parTrans" cxnId="{1C0969BF-A15E-4EC0-98C6-AEC735AFB31F}">
      <dgm:prSet/>
      <dgm:spPr/>
      <dgm:t>
        <a:bodyPr/>
        <a:lstStyle/>
        <a:p>
          <a:endParaRPr lang="en-US"/>
        </a:p>
      </dgm:t>
    </dgm:pt>
    <dgm:pt modelId="{E45B76C0-7A89-4822-B70A-4DD25699FF64}" type="sibTrans" cxnId="{1C0969BF-A15E-4EC0-98C6-AEC735AFB31F}">
      <dgm:prSet/>
      <dgm:spPr/>
      <dgm:t>
        <a:bodyPr/>
        <a:lstStyle/>
        <a:p>
          <a:endParaRPr lang="en-US"/>
        </a:p>
      </dgm:t>
    </dgm:pt>
    <dgm:pt modelId="{FC26AEEC-85F5-4121-993F-31B620339E14}" type="pres">
      <dgm:prSet presAssocID="{44D3125A-D509-46BA-84CA-7DB539E677F2}" presName="root" presStyleCnt="0">
        <dgm:presLayoutVars>
          <dgm:dir/>
          <dgm:resizeHandles val="exact"/>
        </dgm:presLayoutVars>
      </dgm:prSet>
      <dgm:spPr/>
    </dgm:pt>
    <dgm:pt modelId="{77A23B43-A516-4A19-AD83-44BF49C139B9}" type="pres">
      <dgm:prSet presAssocID="{6F182515-AE3C-4C40-BA5B-BE9A18C93112}" presName="compNode" presStyleCnt="0"/>
      <dgm:spPr/>
    </dgm:pt>
    <dgm:pt modelId="{BA6BB302-FF73-4CCD-846D-CD05686C8E41}" type="pres">
      <dgm:prSet presAssocID="{6F182515-AE3C-4C40-BA5B-BE9A18C9311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gister"/>
        </a:ext>
      </dgm:extLst>
    </dgm:pt>
    <dgm:pt modelId="{4375ED66-5291-4E14-8831-81ED29592317}" type="pres">
      <dgm:prSet presAssocID="{6F182515-AE3C-4C40-BA5B-BE9A18C93112}" presName="spaceRect" presStyleCnt="0"/>
      <dgm:spPr/>
    </dgm:pt>
    <dgm:pt modelId="{12106ADD-D928-4D0F-BDD0-E4BEA0885892}" type="pres">
      <dgm:prSet presAssocID="{6F182515-AE3C-4C40-BA5B-BE9A18C93112}" presName="textRect" presStyleLbl="revTx" presStyleIdx="0" presStyleCnt="5">
        <dgm:presLayoutVars>
          <dgm:chMax val="1"/>
          <dgm:chPref val="1"/>
        </dgm:presLayoutVars>
      </dgm:prSet>
      <dgm:spPr/>
    </dgm:pt>
    <dgm:pt modelId="{45017955-AF48-48D1-9BB4-2F7780F0E578}" type="pres">
      <dgm:prSet presAssocID="{0A79CE6A-02EE-41F7-A7FE-22C63B995CFD}" presName="sibTrans" presStyleCnt="0"/>
      <dgm:spPr/>
    </dgm:pt>
    <dgm:pt modelId="{2D685118-3C1E-416C-A1BE-0B659A8B9E7E}" type="pres">
      <dgm:prSet presAssocID="{61FF37A4-2704-4FBB-AE44-DCDAFF7588DE}" presName="compNode" presStyleCnt="0"/>
      <dgm:spPr/>
    </dgm:pt>
    <dgm:pt modelId="{5BF0EE18-E2F2-42E3-BC89-2851FB606114}" type="pres">
      <dgm:prSet presAssocID="{61FF37A4-2704-4FBB-AE44-DCDAFF7588D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rglass"/>
        </a:ext>
      </dgm:extLst>
    </dgm:pt>
    <dgm:pt modelId="{81AC4929-6075-43A8-AC93-A118CD0029E1}" type="pres">
      <dgm:prSet presAssocID="{61FF37A4-2704-4FBB-AE44-DCDAFF7588DE}" presName="spaceRect" presStyleCnt="0"/>
      <dgm:spPr/>
    </dgm:pt>
    <dgm:pt modelId="{0F61B84B-56FE-4818-B08C-4F8FFAE622EC}" type="pres">
      <dgm:prSet presAssocID="{61FF37A4-2704-4FBB-AE44-DCDAFF7588DE}" presName="textRect" presStyleLbl="revTx" presStyleIdx="1" presStyleCnt="5">
        <dgm:presLayoutVars>
          <dgm:chMax val="1"/>
          <dgm:chPref val="1"/>
        </dgm:presLayoutVars>
      </dgm:prSet>
      <dgm:spPr/>
    </dgm:pt>
    <dgm:pt modelId="{FEBE0C31-731C-4201-8964-10835D6C30B0}" type="pres">
      <dgm:prSet presAssocID="{8F32A0B4-00C2-4561-89C6-0AB99C20E26D}" presName="sibTrans" presStyleCnt="0"/>
      <dgm:spPr/>
    </dgm:pt>
    <dgm:pt modelId="{3586F509-5803-434E-8D7D-39EE7A0BB0DE}" type="pres">
      <dgm:prSet presAssocID="{C6B3CED8-BBBF-46C2-A006-193072301CC9}" presName="compNode" presStyleCnt="0"/>
      <dgm:spPr/>
    </dgm:pt>
    <dgm:pt modelId="{7D6EBD83-5E43-457E-A83A-9DE4250F7D58}" type="pres">
      <dgm:prSet presAssocID="{C6B3CED8-BBBF-46C2-A006-193072301CC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ty"/>
        </a:ext>
      </dgm:extLst>
    </dgm:pt>
    <dgm:pt modelId="{3CB85EBB-15FB-4AF8-969F-596E998D785D}" type="pres">
      <dgm:prSet presAssocID="{C6B3CED8-BBBF-46C2-A006-193072301CC9}" presName="spaceRect" presStyleCnt="0"/>
      <dgm:spPr/>
    </dgm:pt>
    <dgm:pt modelId="{92BAE40E-9075-4C32-8784-A166A58D181A}" type="pres">
      <dgm:prSet presAssocID="{C6B3CED8-BBBF-46C2-A006-193072301CC9}" presName="textRect" presStyleLbl="revTx" presStyleIdx="2" presStyleCnt="5" custScaleX="114846">
        <dgm:presLayoutVars>
          <dgm:chMax val="1"/>
          <dgm:chPref val="1"/>
        </dgm:presLayoutVars>
      </dgm:prSet>
      <dgm:spPr/>
    </dgm:pt>
    <dgm:pt modelId="{B489799E-5B0B-4CBF-857B-C6C5165CA8B3}" type="pres">
      <dgm:prSet presAssocID="{464202A1-4782-4813-83EA-BEC60B8057FE}" presName="sibTrans" presStyleCnt="0"/>
      <dgm:spPr/>
    </dgm:pt>
    <dgm:pt modelId="{761D9A9D-B2F2-47A6-81B3-CD056E23FD98}" type="pres">
      <dgm:prSet presAssocID="{15CDF818-31F6-465C-AE34-C3B2A9AD9F64}" presName="compNode" presStyleCnt="0"/>
      <dgm:spPr/>
    </dgm:pt>
    <dgm:pt modelId="{02F2FE1C-4944-46F5-BBDF-7398A4B7B00D}" type="pres">
      <dgm:prSet presAssocID="{15CDF818-31F6-465C-AE34-C3B2A9AD9F6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use"/>
        </a:ext>
      </dgm:extLst>
    </dgm:pt>
    <dgm:pt modelId="{9F3BB788-73D5-4E69-9C8D-85F7757D6F4C}" type="pres">
      <dgm:prSet presAssocID="{15CDF818-31F6-465C-AE34-C3B2A9AD9F64}" presName="spaceRect" presStyleCnt="0"/>
      <dgm:spPr/>
    </dgm:pt>
    <dgm:pt modelId="{2E0E77F3-8473-4B80-BCEE-28EB77AAD07D}" type="pres">
      <dgm:prSet presAssocID="{15CDF818-31F6-465C-AE34-C3B2A9AD9F64}" presName="textRect" presStyleLbl="revTx" presStyleIdx="3" presStyleCnt="5">
        <dgm:presLayoutVars>
          <dgm:chMax val="1"/>
          <dgm:chPref val="1"/>
        </dgm:presLayoutVars>
      </dgm:prSet>
      <dgm:spPr/>
    </dgm:pt>
    <dgm:pt modelId="{6A4F769C-8239-46B7-9AAE-AC94B3869310}" type="pres">
      <dgm:prSet presAssocID="{58955AC9-E987-457B-9BA4-7448FCB566DC}" presName="sibTrans" presStyleCnt="0"/>
      <dgm:spPr/>
    </dgm:pt>
    <dgm:pt modelId="{EC946F7C-465E-4301-B7E2-E3EE1041B555}" type="pres">
      <dgm:prSet presAssocID="{D4D668F7-58F2-4D50-B2D0-EB3EE6929E82}" presName="compNode" presStyleCnt="0"/>
      <dgm:spPr/>
    </dgm:pt>
    <dgm:pt modelId="{1A92FF44-2BFE-47F5-AABC-54EA8B45C65C}" type="pres">
      <dgm:prSet presAssocID="{D4D668F7-58F2-4D50-B2D0-EB3EE6929E8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9543DBAB-78F5-4F4C-A42E-66E7013A7486}" type="pres">
      <dgm:prSet presAssocID="{D4D668F7-58F2-4D50-B2D0-EB3EE6929E82}" presName="spaceRect" presStyleCnt="0"/>
      <dgm:spPr/>
    </dgm:pt>
    <dgm:pt modelId="{84ED3CC1-EA67-4940-8647-4BF3CFA803F9}" type="pres">
      <dgm:prSet presAssocID="{D4D668F7-58F2-4D50-B2D0-EB3EE6929E82}" presName="textRect" presStyleLbl="revTx" presStyleIdx="4" presStyleCnt="5">
        <dgm:presLayoutVars>
          <dgm:chMax val="1"/>
          <dgm:chPref val="1"/>
        </dgm:presLayoutVars>
      </dgm:prSet>
      <dgm:spPr/>
    </dgm:pt>
  </dgm:ptLst>
  <dgm:cxnLst>
    <dgm:cxn modelId="{50BF201D-2C2A-4E2B-B863-32ED9C2C5FC8}" type="presOf" srcId="{C6B3CED8-BBBF-46C2-A006-193072301CC9}" destId="{92BAE40E-9075-4C32-8784-A166A58D181A}" srcOrd="0" destOrd="0" presId="urn:microsoft.com/office/officeart/2018/2/layout/IconLabelList"/>
    <dgm:cxn modelId="{5ABDD539-1E6D-4A51-B58F-7961F05EBAAD}" srcId="{44D3125A-D509-46BA-84CA-7DB539E677F2}" destId="{15CDF818-31F6-465C-AE34-C3B2A9AD9F64}" srcOrd="3" destOrd="0" parTransId="{34A51610-7BF8-4A11-AED1-71549697143E}" sibTransId="{58955AC9-E987-457B-9BA4-7448FCB566DC}"/>
    <dgm:cxn modelId="{FB1ADB4C-70C7-451C-91C5-6B7067D036CB}" srcId="{44D3125A-D509-46BA-84CA-7DB539E677F2}" destId="{C6B3CED8-BBBF-46C2-A006-193072301CC9}" srcOrd="2" destOrd="0" parTransId="{64355FBB-7564-4AFA-83C9-FDB1987BC503}" sibTransId="{464202A1-4782-4813-83EA-BEC60B8057FE}"/>
    <dgm:cxn modelId="{16064A71-7CBA-4C9D-9AD2-7D2ADB37AC80}" type="presOf" srcId="{44D3125A-D509-46BA-84CA-7DB539E677F2}" destId="{FC26AEEC-85F5-4121-993F-31B620339E14}" srcOrd="0" destOrd="0" presId="urn:microsoft.com/office/officeart/2018/2/layout/IconLabelList"/>
    <dgm:cxn modelId="{8DFB3179-C3ED-4081-8345-C7A938E4C40A}" type="presOf" srcId="{6F182515-AE3C-4C40-BA5B-BE9A18C93112}" destId="{12106ADD-D928-4D0F-BDD0-E4BEA0885892}" srcOrd="0" destOrd="0" presId="urn:microsoft.com/office/officeart/2018/2/layout/IconLabelList"/>
    <dgm:cxn modelId="{E80E5899-AF8B-4EC4-ACA1-530503598ED0}" type="presOf" srcId="{D4D668F7-58F2-4D50-B2D0-EB3EE6929E82}" destId="{84ED3CC1-EA67-4940-8647-4BF3CFA803F9}" srcOrd="0" destOrd="0" presId="urn:microsoft.com/office/officeart/2018/2/layout/IconLabelList"/>
    <dgm:cxn modelId="{C4B749AF-79B1-47DE-8F19-0320352AB07C}" srcId="{44D3125A-D509-46BA-84CA-7DB539E677F2}" destId="{61FF37A4-2704-4FBB-AE44-DCDAFF7588DE}" srcOrd="1" destOrd="0" parTransId="{70737981-2F1F-4011-A914-05544D0691F6}" sibTransId="{8F32A0B4-00C2-4561-89C6-0AB99C20E26D}"/>
    <dgm:cxn modelId="{1C0969BF-A15E-4EC0-98C6-AEC735AFB31F}" srcId="{44D3125A-D509-46BA-84CA-7DB539E677F2}" destId="{D4D668F7-58F2-4D50-B2D0-EB3EE6929E82}" srcOrd="4" destOrd="0" parTransId="{444361F8-A8D8-469F-9647-38CA2A4F1579}" sibTransId="{E45B76C0-7A89-4822-B70A-4DD25699FF64}"/>
    <dgm:cxn modelId="{201D8CBF-0BE0-4095-B109-2247E311F441}" type="presOf" srcId="{15CDF818-31F6-465C-AE34-C3B2A9AD9F64}" destId="{2E0E77F3-8473-4B80-BCEE-28EB77AAD07D}" srcOrd="0" destOrd="0" presId="urn:microsoft.com/office/officeart/2018/2/layout/IconLabelList"/>
    <dgm:cxn modelId="{1E573CED-5E85-4EDA-B97D-591B93C56E46}" type="presOf" srcId="{61FF37A4-2704-4FBB-AE44-DCDAFF7588DE}" destId="{0F61B84B-56FE-4818-B08C-4F8FFAE622EC}" srcOrd="0" destOrd="0" presId="urn:microsoft.com/office/officeart/2018/2/layout/IconLabelList"/>
    <dgm:cxn modelId="{B440A9F1-6831-40EF-ACA4-84D520FB4E3A}" srcId="{44D3125A-D509-46BA-84CA-7DB539E677F2}" destId="{6F182515-AE3C-4C40-BA5B-BE9A18C93112}" srcOrd="0" destOrd="0" parTransId="{D2132194-D9FE-4634-AE33-8A69929C0B18}" sibTransId="{0A79CE6A-02EE-41F7-A7FE-22C63B995CFD}"/>
    <dgm:cxn modelId="{6AD061DA-92BC-4198-9103-FED5003C692F}" type="presParOf" srcId="{FC26AEEC-85F5-4121-993F-31B620339E14}" destId="{77A23B43-A516-4A19-AD83-44BF49C139B9}" srcOrd="0" destOrd="0" presId="urn:microsoft.com/office/officeart/2018/2/layout/IconLabelList"/>
    <dgm:cxn modelId="{DF6CD05C-594B-49B3-87E0-78CA9934EFE0}" type="presParOf" srcId="{77A23B43-A516-4A19-AD83-44BF49C139B9}" destId="{BA6BB302-FF73-4CCD-846D-CD05686C8E41}" srcOrd="0" destOrd="0" presId="urn:microsoft.com/office/officeart/2018/2/layout/IconLabelList"/>
    <dgm:cxn modelId="{AFE56709-AF46-4DC0-833A-9C5AA746B443}" type="presParOf" srcId="{77A23B43-A516-4A19-AD83-44BF49C139B9}" destId="{4375ED66-5291-4E14-8831-81ED29592317}" srcOrd="1" destOrd="0" presId="urn:microsoft.com/office/officeart/2018/2/layout/IconLabelList"/>
    <dgm:cxn modelId="{F1C237C3-DB17-460F-8B8F-19C6E3670429}" type="presParOf" srcId="{77A23B43-A516-4A19-AD83-44BF49C139B9}" destId="{12106ADD-D928-4D0F-BDD0-E4BEA0885892}" srcOrd="2" destOrd="0" presId="urn:microsoft.com/office/officeart/2018/2/layout/IconLabelList"/>
    <dgm:cxn modelId="{6680AF01-56BE-455C-882A-2349C5FB4EFD}" type="presParOf" srcId="{FC26AEEC-85F5-4121-993F-31B620339E14}" destId="{45017955-AF48-48D1-9BB4-2F7780F0E578}" srcOrd="1" destOrd="0" presId="urn:microsoft.com/office/officeart/2018/2/layout/IconLabelList"/>
    <dgm:cxn modelId="{EA6BC421-F3EF-40CE-B981-F559687C0BE2}" type="presParOf" srcId="{FC26AEEC-85F5-4121-993F-31B620339E14}" destId="{2D685118-3C1E-416C-A1BE-0B659A8B9E7E}" srcOrd="2" destOrd="0" presId="urn:microsoft.com/office/officeart/2018/2/layout/IconLabelList"/>
    <dgm:cxn modelId="{C80A35D6-F44D-430E-833E-341DAC2CB6B7}" type="presParOf" srcId="{2D685118-3C1E-416C-A1BE-0B659A8B9E7E}" destId="{5BF0EE18-E2F2-42E3-BC89-2851FB606114}" srcOrd="0" destOrd="0" presId="urn:microsoft.com/office/officeart/2018/2/layout/IconLabelList"/>
    <dgm:cxn modelId="{7498A1F8-9F21-45D7-AFB1-094C9B55DFC5}" type="presParOf" srcId="{2D685118-3C1E-416C-A1BE-0B659A8B9E7E}" destId="{81AC4929-6075-43A8-AC93-A118CD0029E1}" srcOrd="1" destOrd="0" presId="urn:microsoft.com/office/officeart/2018/2/layout/IconLabelList"/>
    <dgm:cxn modelId="{0BD8ADC7-5C46-47E1-B0B8-C68740031FB5}" type="presParOf" srcId="{2D685118-3C1E-416C-A1BE-0B659A8B9E7E}" destId="{0F61B84B-56FE-4818-B08C-4F8FFAE622EC}" srcOrd="2" destOrd="0" presId="urn:microsoft.com/office/officeart/2018/2/layout/IconLabelList"/>
    <dgm:cxn modelId="{564F4041-17F9-4403-BDEA-8C10ED1E57F5}" type="presParOf" srcId="{FC26AEEC-85F5-4121-993F-31B620339E14}" destId="{FEBE0C31-731C-4201-8964-10835D6C30B0}" srcOrd="3" destOrd="0" presId="urn:microsoft.com/office/officeart/2018/2/layout/IconLabelList"/>
    <dgm:cxn modelId="{080F9FA5-DC0E-4FFF-919F-C8EC83A80A41}" type="presParOf" srcId="{FC26AEEC-85F5-4121-993F-31B620339E14}" destId="{3586F509-5803-434E-8D7D-39EE7A0BB0DE}" srcOrd="4" destOrd="0" presId="urn:microsoft.com/office/officeart/2018/2/layout/IconLabelList"/>
    <dgm:cxn modelId="{2358C08D-191C-46C8-BDB8-6E746FA99395}" type="presParOf" srcId="{3586F509-5803-434E-8D7D-39EE7A0BB0DE}" destId="{7D6EBD83-5E43-457E-A83A-9DE4250F7D58}" srcOrd="0" destOrd="0" presId="urn:microsoft.com/office/officeart/2018/2/layout/IconLabelList"/>
    <dgm:cxn modelId="{EC24D923-92CB-4BC7-9D2E-8DB85C050205}" type="presParOf" srcId="{3586F509-5803-434E-8D7D-39EE7A0BB0DE}" destId="{3CB85EBB-15FB-4AF8-969F-596E998D785D}" srcOrd="1" destOrd="0" presId="urn:microsoft.com/office/officeart/2018/2/layout/IconLabelList"/>
    <dgm:cxn modelId="{79DA8C30-6A88-430B-BD0C-566B5C43E250}" type="presParOf" srcId="{3586F509-5803-434E-8D7D-39EE7A0BB0DE}" destId="{92BAE40E-9075-4C32-8784-A166A58D181A}" srcOrd="2" destOrd="0" presId="urn:microsoft.com/office/officeart/2018/2/layout/IconLabelList"/>
    <dgm:cxn modelId="{765EA78F-213C-48F0-A75D-30990DAB9327}" type="presParOf" srcId="{FC26AEEC-85F5-4121-993F-31B620339E14}" destId="{B489799E-5B0B-4CBF-857B-C6C5165CA8B3}" srcOrd="5" destOrd="0" presId="urn:microsoft.com/office/officeart/2018/2/layout/IconLabelList"/>
    <dgm:cxn modelId="{CA5CEFAF-1181-4824-82D7-B9637BA623A1}" type="presParOf" srcId="{FC26AEEC-85F5-4121-993F-31B620339E14}" destId="{761D9A9D-B2F2-47A6-81B3-CD056E23FD98}" srcOrd="6" destOrd="0" presId="urn:microsoft.com/office/officeart/2018/2/layout/IconLabelList"/>
    <dgm:cxn modelId="{F297493B-7FFE-4784-AD7D-C34FCF845B6D}" type="presParOf" srcId="{761D9A9D-B2F2-47A6-81B3-CD056E23FD98}" destId="{02F2FE1C-4944-46F5-BBDF-7398A4B7B00D}" srcOrd="0" destOrd="0" presId="urn:microsoft.com/office/officeart/2018/2/layout/IconLabelList"/>
    <dgm:cxn modelId="{62AEDA24-C5E5-4295-81F1-E964177C9A4C}" type="presParOf" srcId="{761D9A9D-B2F2-47A6-81B3-CD056E23FD98}" destId="{9F3BB788-73D5-4E69-9C8D-85F7757D6F4C}" srcOrd="1" destOrd="0" presId="urn:microsoft.com/office/officeart/2018/2/layout/IconLabelList"/>
    <dgm:cxn modelId="{4AE9F7D5-DDEB-4086-84FF-D03CB6D3CE55}" type="presParOf" srcId="{761D9A9D-B2F2-47A6-81B3-CD056E23FD98}" destId="{2E0E77F3-8473-4B80-BCEE-28EB77AAD07D}" srcOrd="2" destOrd="0" presId="urn:microsoft.com/office/officeart/2018/2/layout/IconLabelList"/>
    <dgm:cxn modelId="{D1B0B8FF-93CC-494B-AF9F-F3B9AC014803}" type="presParOf" srcId="{FC26AEEC-85F5-4121-993F-31B620339E14}" destId="{6A4F769C-8239-46B7-9AAE-AC94B3869310}" srcOrd="7" destOrd="0" presId="urn:microsoft.com/office/officeart/2018/2/layout/IconLabelList"/>
    <dgm:cxn modelId="{3DA7A98C-FDE6-4C79-9E0C-3191394D9D3D}" type="presParOf" srcId="{FC26AEEC-85F5-4121-993F-31B620339E14}" destId="{EC946F7C-465E-4301-B7E2-E3EE1041B555}" srcOrd="8" destOrd="0" presId="urn:microsoft.com/office/officeart/2018/2/layout/IconLabelList"/>
    <dgm:cxn modelId="{343ACDF3-250B-4191-9133-6614FA68F672}" type="presParOf" srcId="{EC946F7C-465E-4301-B7E2-E3EE1041B555}" destId="{1A92FF44-2BFE-47F5-AABC-54EA8B45C65C}" srcOrd="0" destOrd="0" presId="urn:microsoft.com/office/officeart/2018/2/layout/IconLabelList"/>
    <dgm:cxn modelId="{73B47F8B-96B6-45A5-B06D-E329DC13279D}" type="presParOf" srcId="{EC946F7C-465E-4301-B7E2-E3EE1041B555}" destId="{9543DBAB-78F5-4F4C-A42E-66E7013A7486}" srcOrd="1" destOrd="0" presId="urn:microsoft.com/office/officeart/2018/2/layout/IconLabelList"/>
    <dgm:cxn modelId="{CC800C33-18FC-4013-A656-9B100F89B802}" type="presParOf" srcId="{EC946F7C-465E-4301-B7E2-E3EE1041B555}" destId="{84ED3CC1-EA67-4940-8647-4BF3CFA803F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BB302-FF73-4CCD-846D-CD05686C8E41}">
      <dsp:nvSpPr>
        <dsp:cNvPr id="0" name=""/>
        <dsp:cNvSpPr/>
      </dsp:nvSpPr>
      <dsp:spPr>
        <a:xfrm>
          <a:off x="887682" y="957990"/>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106ADD-D928-4D0F-BDD0-E4BEA0885892}">
      <dsp:nvSpPr>
        <dsp:cNvPr id="0" name=""/>
        <dsp:cNvSpPr/>
      </dsp:nvSpPr>
      <dsp:spPr>
        <a:xfrm>
          <a:off x="392682"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Dataset:</a:t>
          </a:r>
          <a:r>
            <a:rPr lang="en-SG" sz="1600" b="1" kern="1200" dirty="0"/>
            <a:t> </a:t>
          </a:r>
          <a:r>
            <a:rPr lang="en-SG" sz="1600" kern="1200" dirty="0"/>
            <a:t>4 csv files for </a:t>
          </a:r>
          <a:r>
            <a:rPr lang="en-US" sz="1600" kern="1200" dirty="0"/>
            <a:t>HDB Resale Prices (2000–2023)</a:t>
          </a:r>
        </a:p>
      </dsp:txBody>
      <dsp:txXfrm>
        <a:off x="392682" y="2109814"/>
        <a:ext cx="1800000" cy="1125000"/>
      </dsp:txXfrm>
    </dsp:sp>
    <dsp:sp modelId="{5BF0EE18-E2F2-42E3-BC89-2851FB606114}">
      <dsp:nvSpPr>
        <dsp:cNvPr id="0" name=""/>
        <dsp:cNvSpPr/>
      </dsp:nvSpPr>
      <dsp:spPr>
        <a:xfrm>
          <a:off x="3002682" y="957990"/>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61B84B-56FE-4818-B08C-4F8FFAE622EC}">
      <dsp:nvSpPr>
        <dsp:cNvPr id="0" name=""/>
        <dsp:cNvSpPr/>
      </dsp:nvSpPr>
      <dsp:spPr>
        <a:xfrm>
          <a:off x="2507682"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SG" sz="1600" b="1" kern="1200" dirty="0"/>
            <a:t>Time Period: </a:t>
          </a:r>
          <a:r>
            <a:rPr lang="en-SG" sz="1600" kern="1200" dirty="0"/>
            <a:t>Jan 2000 – Dec 2023</a:t>
          </a:r>
          <a:endParaRPr lang="en-US" sz="1600" kern="1200" dirty="0"/>
        </a:p>
      </dsp:txBody>
      <dsp:txXfrm>
        <a:off x="2507682" y="2109814"/>
        <a:ext cx="1800000" cy="1125000"/>
      </dsp:txXfrm>
    </dsp:sp>
    <dsp:sp modelId="{7D6EBD83-5E43-457E-A83A-9DE4250F7D58}">
      <dsp:nvSpPr>
        <dsp:cNvPr id="0" name=""/>
        <dsp:cNvSpPr/>
      </dsp:nvSpPr>
      <dsp:spPr>
        <a:xfrm>
          <a:off x="5251296" y="957990"/>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BAE40E-9075-4C32-8784-A166A58D181A}">
      <dsp:nvSpPr>
        <dsp:cNvPr id="0" name=""/>
        <dsp:cNvSpPr/>
      </dsp:nvSpPr>
      <dsp:spPr>
        <a:xfrm>
          <a:off x="4622682" y="2109814"/>
          <a:ext cx="2067228"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Key Variables: </a:t>
          </a:r>
          <a:r>
            <a:rPr lang="en-US" sz="1600" kern="1200" dirty="0"/>
            <a:t>Town, Flat Type, Floor Area, Lease Commencement,</a:t>
          </a:r>
          <a:r>
            <a:rPr lang="en-SG" sz="1600" kern="1200" dirty="0"/>
            <a:t> Resale </a:t>
          </a:r>
          <a:r>
            <a:rPr lang="en-US" sz="1600" kern="1200" dirty="0"/>
            <a:t>Price, </a:t>
          </a:r>
          <a:r>
            <a:rPr lang="en-SG" sz="1600" kern="1200" dirty="0"/>
            <a:t>Sale</a:t>
          </a:r>
          <a:r>
            <a:rPr lang="en-US" sz="1600" kern="1200" dirty="0"/>
            <a:t> Date</a:t>
          </a:r>
          <a:r>
            <a:rPr lang="en-SG" sz="1600" kern="1200" dirty="0"/>
            <a:t>, Street Name, Storey Range </a:t>
          </a:r>
          <a:endParaRPr lang="en-US" sz="1600" kern="1200" dirty="0"/>
        </a:p>
      </dsp:txBody>
      <dsp:txXfrm>
        <a:off x="4622682" y="2109814"/>
        <a:ext cx="2067228" cy="1125000"/>
      </dsp:txXfrm>
    </dsp:sp>
    <dsp:sp modelId="{02F2FE1C-4944-46F5-BBDF-7398A4B7B00D}">
      <dsp:nvSpPr>
        <dsp:cNvPr id="0" name=""/>
        <dsp:cNvSpPr/>
      </dsp:nvSpPr>
      <dsp:spPr>
        <a:xfrm>
          <a:off x="7499910" y="95799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0E77F3-8473-4B80-BCEE-28EB77AAD07D}">
      <dsp:nvSpPr>
        <dsp:cNvPr id="0" name=""/>
        <dsp:cNvSpPr/>
      </dsp:nvSpPr>
      <dsp:spPr>
        <a:xfrm>
          <a:off x="7004910"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Scope: </a:t>
          </a:r>
          <a:r>
            <a:rPr lang="en-US" sz="1600" kern="1200" dirty="0"/>
            <a:t>23 years of resale transactions across Singapore</a:t>
          </a:r>
        </a:p>
      </dsp:txBody>
      <dsp:txXfrm>
        <a:off x="7004910" y="2109814"/>
        <a:ext cx="1800000" cy="1125000"/>
      </dsp:txXfrm>
    </dsp:sp>
    <dsp:sp modelId="{1A92FF44-2BFE-47F5-AABC-54EA8B45C65C}">
      <dsp:nvSpPr>
        <dsp:cNvPr id="0" name=""/>
        <dsp:cNvSpPr/>
      </dsp:nvSpPr>
      <dsp:spPr>
        <a:xfrm>
          <a:off x="9614910" y="957990"/>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ED3CC1-EA67-4940-8647-4BF3CFA803F9}">
      <dsp:nvSpPr>
        <dsp:cNvPr id="0" name=""/>
        <dsp:cNvSpPr/>
      </dsp:nvSpPr>
      <dsp:spPr>
        <a:xfrm>
          <a:off x="9119910" y="2109814"/>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Tools: </a:t>
          </a:r>
          <a:r>
            <a:rPr lang="en-US" sz="1600" kern="1200" dirty="0"/>
            <a:t>Power BI, DAX</a:t>
          </a:r>
          <a:r>
            <a:rPr lang="en-US" sz="1600" kern="1200"/>
            <a:t>, SQL, </a:t>
          </a:r>
          <a:r>
            <a:rPr lang="en-SG" sz="1600" kern="1200" dirty="0"/>
            <a:t>Power Query(M Language)</a:t>
          </a:r>
          <a:endParaRPr lang="en-US" sz="1600" kern="1200" dirty="0"/>
        </a:p>
      </dsp:txBody>
      <dsp:txXfrm>
        <a:off x="9119910" y="2109814"/>
        <a:ext cx="1800000" cy="112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7F16F7-C5CB-41B7-B3C5-8D07A1E906F0}" type="datetimeFigureOut">
              <a:rPr lang="en-SG" smtClean="0"/>
              <a:t>7/3/2026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FE0F6-0D4D-40D5-9D01-7340DEE2B163}" type="slidenum">
              <a:rPr lang="en-SG" smtClean="0"/>
              <a:t>‹#›</a:t>
            </a:fld>
            <a:endParaRPr lang="en-SG"/>
          </a:p>
        </p:txBody>
      </p:sp>
    </p:spTree>
    <p:extLst>
      <p:ext uri="{BB962C8B-B14F-4D97-AF65-F5344CB8AC3E}">
        <p14:creationId xmlns:p14="http://schemas.microsoft.com/office/powerpoint/2010/main" val="2098127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a:t>
            </a:fld>
            <a:endParaRPr lang="en-SG"/>
          </a:p>
        </p:txBody>
      </p:sp>
    </p:spTree>
    <p:extLst>
      <p:ext uri="{BB962C8B-B14F-4D97-AF65-F5344CB8AC3E}">
        <p14:creationId xmlns:p14="http://schemas.microsoft.com/office/powerpoint/2010/main" val="425995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2</a:t>
            </a:fld>
            <a:endParaRPr lang="en-SG"/>
          </a:p>
        </p:txBody>
      </p:sp>
    </p:spTree>
    <p:extLst>
      <p:ext uri="{BB962C8B-B14F-4D97-AF65-F5344CB8AC3E}">
        <p14:creationId xmlns:p14="http://schemas.microsoft.com/office/powerpoint/2010/main" val="385509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3</a:t>
            </a:fld>
            <a:endParaRPr lang="en-SG"/>
          </a:p>
        </p:txBody>
      </p:sp>
    </p:spTree>
    <p:extLst>
      <p:ext uri="{BB962C8B-B14F-4D97-AF65-F5344CB8AC3E}">
        <p14:creationId xmlns:p14="http://schemas.microsoft.com/office/powerpoint/2010/main" val="2544573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4</a:t>
            </a:fld>
            <a:endParaRPr lang="en-SG"/>
          </a:p>
        </p:txBody>
      </p:sp>
    </p:spTree>
    <p:extLst>
      <p:ext uri="{BB962C8B-B14F-4D97-AF65-F5344CB8AC3E}">
        <p14:creationId xmlns:p14="http://schemas.microsoft.com/office/powerpoint/2010/main" val="3921170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6D070-39E3-B19A-D590-631EE61F9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769A3-BB94-F684-07CE-7A689A36962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C7EAFDF-1159-31C3-3CD9-85B1D23189D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D3108AC-1F19-5806-9C7B-1E10FBBAFC55}"/>
              </a:ext>
            </a:extLst>
          </p:cNvPr>
          <p:cNvSpPr>
            <a:spLocks noGrp="1"/>
          </p:cNvSpPr>
          <p:nvPr>
            <p:ph type="sldNum" sz="quarter" idx="5"/>
          </p:nvPr>
        </p:nvSpPr>
        <p:spPr/>
        <p:txBody>
          <a:bodyPr/>
          <a:lstStyle/>
          <a:p>
            <a:fld id="{1FCFE0F6-0D4D-40D5-9D01-7340DEE2B163}" type="slidenum">
              <a:rPr lang="en-SG" smtClean="0"/>
              <a:t>5</a:t>
            </a:fld>
            <a:endParaRPr lang="en-SG"/>
          </a:p>
        </p:txBody>
      </p:sp>
    </p:spTree>
    <p:extLst>
      <p:ext uri="{BB962C8B-B14F-4D97-AF65-F5344CB8AC3E}">
        <p14:creationId xmlns:p14="http://schemas.microsoft.com/office/powerpoint/2010/main" val="2451214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035B1-9FAC-3F26-3066-4812D6BEF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C11D8-27C0-032A-5376-C5A851FF086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AA58C3A-67DF-158D-CA8C-AD8604361E6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CF910F0-4F3B-75DF-A03A-13BF68A461C5}"/>
              </a:ext>
            </a:extLst>
          </p:cNvPr>
          <p:cNvSpPr>
            <a:spLocks noGrp="1"/>
          </p:cNvSpPr>
          <p:nvPr>
            <p:ph type="sldNum" sz="quarter" idx="5"/>
          </p:nvPr>
        </p:nvSpPr>
        <p:spPr/>
        <p:txBody>
          <a:bodyPr/>
          <a:lstStyle/>
          <a:p>
            <a:fld id="{1FCFE0F6-0D4D-40D5-9D01-7340DEE2B163}" type="slidenum">
              <a:rPr lang="en-SG" smtClean="0"/>
              <a:t>6</a:t>
            </a:fld>
            <a:endParaRPr lang="en-SG"/>
          </a:p>
        </p:txBody>
      </p:sp>
    </p:spTree>
    <p:extLst>
      <p:ext uri="{BB962C8B-B14F-4D97-AF65-F5344CB8AC3E}">
        <p14:creationId xmlns:p14="http://schemas.microsoft.com/office/powerpoint/2010/main" val="4119023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60137-3E59-DE81-04B7-B15848F09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FF728-0743-32D9-7DE9-60933850D5D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47AA523-2F09-1B5E-1664-D8240D8117B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FAFBF32-4236-C434-C147-7600679594F2}"/>
              </a:ext>
            </a:extLst>
          </p:cNvPr>
          <p:cNvSpPr>
            <a:spLocks noGrp="1"/>
          </p:cNvSpPr>
          <p:nvPr>
            <p:ph type="sldNum" sz="quarter" idx="5"/>
          </p:nvPr>
        </p:nvSpPr>
        <p:spPr/>
        <p:txBody>
          <a:bodyPr/>
          <a:lstStyle/>
          <a:p>
            <a:fld id="{1FCFE0F6-0D4D-40D5-9D01-7340DEE2B163}" type="slidenum">
              <a:rPr lang="en-SG" smtClean="0"/>
              <a:t>7</a:t>
            </a:fld>
            <a:endParaRPr lang="en-SG"/>
          </a:p>
        </p:txBody>
      </p:sp>
    </p:spTree>
    <p:extLst>
      <p:ext uri="{BB962C8B-B14F-4D97-AF65-F5344CB8AC3E}">
        <p14:creationId xmlns:p14="http://schemas.microsoft.com/office/powerpoint/2010/main" val="2869863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F425-8927-AAC7-74D6-1B0F55B88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FB62A-21F3-834F-BA52-A11FCAD49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38364-2B1E-8A19-0D05-4EA58424307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C4B2104-D45E-7861-7D63-BE6579F7FDBB}"/>
              </a:ext>
            </a:extLst>
          </p:cNvPr>
          <p:cNvSpPr>
            <a:spLocks noGrp="1"/>
          </p:cNvSpPr>
          <p:nvPr>
            <p:ph type="sldNum" sz="quarter" idx="5"/>
          </p:nvPr>
        </p:nvSpPr>
        <p:spPr/>
        <p:txBody>
          <a:bodyPr/>
          <a:lstStyle/>
          <a:p>
            <a:fld id="{1FCFE0F6-0D4D-40D5-9D01-7340DEE2B163}" type="slidenum">
              <a:rPr lang="en-SG" smtClean="0"/>
              <a:t>8</a:t>
            </a:fld>
            <a:endParaRPr lang="en-SG"/>
          </a:p>
        </p:txBody>
      </p:sp>
    </p:spTree>
    <p:extLst>
      <p:ext uri="{BB962C8B-B14F-4D97-AF65-F5344CB8AC3E}">
        <p14:creationId xmlns:p14="http://schemas.microsoft.com/office/powerpoint/2010/main" val="387236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CB9F-7FA5-552D-0BBC-4D004080E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25F4F-2467-C3D2-45B2-3DEA1E6AC7A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33C9961-EC3E-4E14-A493-E414E6E2493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57141D7-F50B-E229-60C8-613ABEC4A836}"/>
              </a:ext>
            </a:extLst>
          </p:cNvPr>
          <p:cNvSpPr>
            <a:spLocks noGrp="1"/>
          </p:cNvSpPr>
          <p:nvPr>
            <p:ph type="sldNum" sz="quarter" idx="5"/>
          </p:nvPr>
        </p:nvSpPr>
        <p:spPr/>
        <p:txBody>
          <a:bodyPr/>
          <a:lstStyle/>
          <a:p>
            <a:fld id="{1FCFE0F6-0D4D-40D5-9D01-7340DEE2B163}" type="slidenum">
              <a:rPr lang="en-SG" smtClean="0"/>
              <a:t>9</a:t>
            </a:fld>
            <a:endParaRPr lang="en-SG"/>
          </a:p>
        </p:txBody>
      </p:sp>
    </p:spTree>
    <p:extLst>
      <p:ext uri="{BB962C8B-B14F-4D97-AF65-F5344CB8AC3E}">
        <p14:creationId xmlns:p14="http://schemas.microsoft.com/office/powerpoint/2010/main" val="3464649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E019-E34C-F701-E783-43D955831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29603-CA5A-5549-029C-2C98EA78CC4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9615CBF-F513-938E-B62D-DCED2C80029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7FD1FDC-83A6-7320-0535-C90CA28E60EC}"/>
              </a:ext>
            </a:extLst>
          </p:cNvPr>
          <p:cNvSpPr>
            <a:spLocks noGrp="1"/>
          </p:cNvSpPr>
          <p:nvPr>
            <p:ph type="sldNum" sz="quarter" idx="5"/>
          </p:nvPr>
        </p:nvSpPr>
        <p:spPr/>
        <p:txBody>
          <a:bodyPr/>
          <a:lstStyle/>
          <a:p>
            <a:fld id="{1FCFE0F6-0D4D-40D5-9D01-7340DEE2B163}" type="slidenum">
              <a:rPr lang="en-SG" smtClean="0"/>
              <a:t>10</a:t>
            </a:fld>
            <a:endParaRPr lang="en-SG"/>
          </a:p>
        </p:txBody>
      </p:sp>
    </p:spTree>
    <p:extLst>
      <p:ext uri="{BB962C8B-B14F-4D97-AF65-F5344CB8AC3E}">
        <p14:creationId xmlns:p14="http://schemas.microsoft.com/office/powerpoint/2010/main" val="1405518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4CA3-5747-7862-49A6-D2F1E93E1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4F3BF-8A00-A395-299F-61E6415DD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F01B5-91E1-C76D-3E21-46870B22E21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8F6A115-1E51-4436-7EA0-F019F6E1002A}"/>
              </a:ext>
            </a:extLst>
          </p:cNvPr>
          <p:cNvSpPr>
            <a:spLocks noGrp="1"/>
          </p:cNvSpPr>
          <p:nvPr>
            <p:ph type="sldNum" sz="quarter" idx="5"/>
          </p:nvPr>
        </p:nvSpPr>
        <p:spPr/>
        <p:txBody>
          <a:bodyPr/>
          <a:lstStyle/>
          <a:p>
            <a:fld id="{1FCFE0F6-0D4D-40D5-9D01-7340DEE2B163}" type="slidenum">
              <a:rPr lang="en-SG" smtClean="0"/>
              <a:t>11</a:t>
            </a:fld>
            <a:endParaRPr lang="en-SG"/>
          </a:p>
        </p:txBody>
      </p:sp>
    </p:spTree>
    <p:extLst>
      <p:ext uri="{BB962C8B-B14F-4D97-AF65-F5344CB8AC3E}">
        <p14:creationId xmlns:p14="http://schemas.microsoft.com/office/powerpoint/2010/main" val="1861427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5853E-D1F7-7E95-0ADB-13EC34393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1152B-0874-77B6-526B-8014CFC4572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749D5C97-6BD7-2607-CEF9-15364C9BCEC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2F5ACFC-E7CB-A850-EA56-D5E1A9DCB210}"/>
              </a:ext>
            </a:extLst>
          </p:cNvPr>
          <p:cNvSpPr>
            <a:spLocks noGrp="1"/>
          </p:cNvSpPr>
          <p:nvPr>
            <p:ph type="sldNum" sz="quarter" idx="5"/>
          </p:nvPr>
        </p:nvSpPr>
        <p:spPr/>
        <p:txBody>
          <a:bodyPr/>
          <a:lstStyle/>
          <a:p>
            <a:fld id="{1FCFE0F6-0D4D-40D5-9D01-7340DEE2B163}" type="slidenum">
              <a:rPr lang="en-SG" smtClean="0"/>
              <a:t>12</a:t>
            </a:fld>
            <a:endParaRPr lang="en-SG"/>
          </a:p>
        </p:txBody>
      </p:sp>
    </p:spTree>
    <p:extLst>
      <p:ext uri="{BB962C8B-B14F-4D97-AF65-F5344CB8AC3E}">
        <p14:creationId xmlns:p14="http://schemas.microsoft.com/office/powerpoint/2010/main" val="2153368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13</a:t>
            </a:fld>
            <a:endParaRPr lang="en-SG"/>
          </a:p>
        </p:txBody>
      </p:sp>
    </p:spTree>
    <p:extLst>
      <p:ext uri="{BB962C8B-B14F-4D97-AF65-F5344CB8AC3E}">
        <p14:creationId xmlns:p14="http://schemas.microsoft.com/office/powerpoint/2010/main" val="2807403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14</a:t>
            </a:fld>
            <a:endParaRPr lang="en-SG"/>
          </a:p>
        </p:txBody>
      </p:sp>
    </p:spTree>
    <p:extLst>
      <p:ext uri="{BB962C8B-B14F-4D97-AF65-F5344CB8AC3E}">
        <p14:creationId xmlns:p14="http://schemas.microsoft.com/office/powerpoint/2010/main" val="652231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EC905-9AAD-20EE-C2A2-5990E4704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EDDD9-3621-AB85-66AA-CB986E6BA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3A56C-9738-F4FB-4A2D-1BC8C1E053F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23A225D3-9668-0083-A00B-D68E9FC566E8}"/>
              </a:ext>
            </a:extLst>
          </p:cNvPr>
          <p:cNvSpPr>
            <a:spLocks noGrp="1"/>
          </p:cNvSpPr>
          <p:nvPr>
            <p:ph type="sldNum" sz="quarter" idx="5"/>
          </p:nvPr>
        </p:nvSpPr>
        <p:spPr/>
        <p:txBody>
          <a:bodyPr/>
          <a:lstStyle/>
          <a:p>
            <a:fld id="{1FCFE0F6-0D4D-40D5-9D01-7340DEE2B163}" type="slidenum">
              <a:rPr lang="en-SG" smtClean="0"/>
              <a:t>15</a:t>
            </a:fld>
            <a:endParaRPr lang="en-SG"/>
          </a:p>
        </p:txBody>
      </p:sp>
    </p:spTree>
    <p:extLst>
      <p:ext uri="{BB962C8B-B14F-4D97-AF65-F5344CB8AC3E}">
        <p14:creationId xmlns:p14="http://schemas.microsoft.com/office/powerpoint/2010/main" val="1250951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FCFE0F6-0D4D-40D5-9D01-7340DEE2B163}" type="slidenum">
              <a:rPr lang="en-SG" smtClean="0"/>
              <a:t>16</a:t>
            </a:fld>
            <a:endParaRPr lang="en-SG"/>
          </a:p>
        </p:txBody>
      </p:sp>
    </p:spTree>
    <p:extLst>
      <p:ext uri="{BB962C8B-B14F-4D97-AF65-F5344CB8AC3E}">
        <p14:creationId xmlns:p14="http://schemas.microsoft.com/office/powerpoint/2010/main" val="147496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0896A-D806-A9AA-4AF2-873C3513E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E9A91-C852-2CB1-440C-CAF244AD3BE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93CBE1E-4B4A-A94D-FBAB-CE9C8CE41CC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5F94A50-54A6-D7AC-047F-09347815A7AD}"/>
              </a:ext>
            </a:extLst>
          </p:cNvPr>
          <p:cNvSpPr>
            <a:spLocks noGrp="1"/>
          </p:cNvSpPr>
          <p:nvPr>
            <p:ph type="sldNum" sz="quarter" idx="5"/>
          </p:nvPr>
        </p:nvSpPr>
        <p:spPr/>
        <p:txBody>
          <a:bodyPr/>
          <a:lstStyle/>
          <a:p>
            <a:fld id="{1FCFE0F6-0D4D-40D5-9D01-7340DEE2B163}" type="slidenum">
              <a:rPr lang="en-SG" smtClean="0"/>
              <a:t>17</a:t>
            </a:fld>
            <a:endParaRPr lang="en-SG"/>
          </a:p>
        </p:txBody>
      </p:sp>
    </p:spTree>
    <p:extLst>
      <p:ext uri="{BB962C8B-B14F-4D97-AF65-F5344CB8AC3E}">
        <p14:creationId xmlns:p14="http://schemas.microsoft.com/office/powerpoint/2010/main" val="1498822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2142-993B-1646-AECF-06EC79BE4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9233A-ABCF-88D4-8A28-1C874987CFC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EAB6847-F558-FE01-BABC-3F196006F1D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D734BFD-61AA-489F-217F-3F139A5049FA}"/>
              </a:ext>
            </a:extLst>
          </p:cNvPr>
          <p:cNvSpPr>
            <a:spLocks noGrp="1"/>
          </p:cNvSpPr>
          <p:nvPr>
            <p:ph type="sldNum" sz="quarter" idx="5"/>
          </p:nvPr>
        </p:nvSpPr>
        <p:spPr/>
        <p:txBody>
          <a:bodyPr/>
          <a:lstStyle/>
          <a:p>
            <a:fld id="{1FCFE0F6-0D4D-40D5-9D01-7340DEE2B163}" type="slidenum">
              <a:rPr lang="en-SG" smtClean="0"/>
              <a:t>18</a:t>
            </a:fld>
            <a:endParaRPr lang="en-SG"/>
          </a:p>
        </p:txBody>
      </p:sp>
    </p:spTree>
    <p:extLst>
      <p:ext uri="{BB962C8B-B14F-4D97-AF65-F5344CB8AC3E}">
        <p14:creationId xmlns:p14="http://schemas.microsoft.com/office/powerpoint/2010/main" val="1257529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69939-E767-3021-816E-D10840CC3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0D3B9-C494-01AF-7012-9C4A824E0CC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365E2E7-16A6-39A4-09BB-669A176CD34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3949026-D2EB-FE52-10BB-BC38CD8680D2}"/>
              </a:ext>
            </a:extLst>
          </p:cNvPr>
          <p:cNvSpPr>
            <a:spLocks noGrp="1"/>
          </p:cNvSpPr>
          <p:nvPr>
            <p:ph type="sldNum" sz="quarter" idx="5"/>
          </p:nvPr>
        </p:nvSpPr>
        <p:spPr/>
        <p:txBody>
          <a:bodyPr/>
          <a:lstStyle/>
          <a:p>
            <a:fld id="{1FCFE0F6-0D4D-40D5-9D01-7340DEE2B163}" type="slidenum">
              <a:rPr lang="en-SG" smtClean="0"/>
              <a:t>19</a:t>
            </a:fld>
            <a:endParaRPr lang="en-SG"/>
          </a:p>
        </p:txBody>
      </p:sp>
    </p:spTree>
    <p:extLst>
      <p:ext uri="{BB962C8B-B14F-4D97-AF65-F5344CB8AC3E}">
        <p14:creationId xmlns:p14="http://schemas.microsoft.com/office/powerpoint/2010/main" val="2092049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6429-C331-8CFA-FE2F-2B0161CB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F8D05-B03E-0D51-2C36-0AE147D8306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A1E95F9-A985-338A-0DBC-2BBAB34C4A1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4130F0C-4949-26EF-4401-954DC412FB3E}"/>
              </a:ext>
            </a:extLst>
          </p:cNvPr>
          <p:cNvSpPr>
            <a:spLocks noGrp="1"/>
          </p:cNvSpPr>
          <p:nvPr>
            <p:ph type="sldNum" sz="quarter" idx="5"/>
          </p:nvPr>
        </p:nvSpPr>
        <p:spPr/>
        <p:txBody>
          <a:bodyPr/>
          <a:lstStyle/>
          <a:p>
            <a:fld id="{1FCFE0F6-0D4D-40D5-9D01-7340DEE2B163}" type="slidenum">
              <a:rPr lang="en-SG" smtClean="0"/>
              <a:t>20</a:t>
            </a:fld>
            <a:endParaRPr lang="en-SG"/>
          </a:p>
        </p:txBody>
      </p:sp>
    </p:spTree>
    <p:extLst>
      <p:ext uri="{BB962C8B-B14F-4D97-AF65-F5344CB8AC3E}">
        <p14:creationId xmlns:p14="http://schemas.microsoft.com/office/powerpoint/2010/main" val="1853689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A2201-288C-435D-5306-E6832B03E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16471-DBB6-82E8-9256-50CFA3D1081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536DEBE-BF5C-248C-34EA-602276622AC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A1C3C18-FC2C-A27C-2CC9-01B0FF61BE84}"/>
              </a:ext>
            </a:extLst>
          </p:cNvPr>
          <p:cNvSpPr>
            <a:spLocks noGrp="1"/>
          </p:cNvSpPr>
          <p:nvPr>
            <p:ph type="sldNum" sz="quarter" idx="5"/>
          </p:nvPr>
        </p:nvSpPr>
        <p:spPr/>
        <p:txBody>
          <a:bodyPr/>
          <a:lstStyle/>
          <a:p>
            <a:fld id="{1FCFE0F6-0D4D-40D5-9D01-7340DEE2B163}" type="slidenum">
              <a:rPr lang="en-SG" smtClean="0"/>
              <a:t>21</a:t>
            </a:fld>
            <a:endParaRPr lang="en-SG"/>
          </a:p>
        </p:txBody>
      </p:sp>
    </p:spTree>
    <p:extLst>
      <p:ext uri="{BB962C8B-B14F-4D97-AF65-F5344CB8AC3E}">
        <p14:creationId xmlns:p14="http://schemas.microsoft.com/office/powerpoint/2010/main" val="883429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4C2C-6473-C91A-AE62-685F2EB9B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227B9-EDF0-339A-65DC-218D398000B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1918A4A-1522-FBEB-FDF6-9DB70037721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EF950BC-E899-15B5-2240-0BA2221687C5}"/>
              </a:ext>
            </a:extLst>
          </p:cNvPr>
          <p:cNvSpPr>
            <a:spLocks noGrp="1"/>
          </p:cNvSpPr>
          <p:nvPr>
            <p:ph type="sldNum" sz="quarter" idx="5"/>
          </p:nvPr>
        </p:nvSpPr>
        <p:spPr/>
        <p:txBody>
          <a:bodyPr/>
          <a:lstStyle/>
          <a:p>
            <a:fld id="{1FCFE0F6-0D4D-40D5-9D01-7340DEE2B163}" type="slidenum">
              <a:rPr lang="en-SG" smtClean="0"/>
              <a:t>22</a:t>
            </a:fld>
            <a:endParaRPr lang="en-SG"/>
          </a:p>
        </p:txBody>
      </p:sp>
    </p:spTree>
    <p:extLst>
      <p:ext uri="{BB962C8B-B14F-4D97-AF65-F5344CB8AC3E}">
        <p14:creationId xmlns:p14="http://schemas.microsoft.com/office/powerpoint/2010/main" val="2389743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8D6F-73CB-167E-9790-9BA1C1966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50C90-47FC-9C78-06D5-1B2D8F08C5B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A8D0496-FD00-A81E-DACE-C6B6C5362F8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4C6DB20-BFFA-782E-48C0-1D913F94CC90}"/>
              </a:ext>
            </a:extLst>
          </p:cNvPr>
          <p:cNvSpPr>
            <a:spLocks noGrp="1"/>
          </p:cNvSpPr>
          <p:nvPr>
            <p:ph type="sldNum" sz="quarter" idx="5"/>
          </p:nvPr>
        </p:nvSpPr>
        <p:spPr/>
        <p:txBody>
          <a:bodyPr/>
          <a:lstStyle/>
          <a:p>
            <a:fld id="{1FCFE0F6-0D4D-40D5-9D01-7340DEE2B163}" type="slidenum">
              <a:rPr lang="en-SG" smtClean="0"/>
              <a:t>23</a:t>
            </a:fld>
            <a:endParaRPr lang="en-SG"/>
          </a:p>
        </p:txBody>
      </p:sp>
    </p:spTree>
    <p:extLst>
      <p:ext uri="{BB962C8B-B14F-4D97-AF65-F5344CB8AC3E}">
        <p14:creationId xmlns:p14="http://schemas.microsoft.com/office/powerpoint/2010/main" val="799583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hemeOverride" Target="../theme/themeOverride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hemeOverride" Target="../theme/themeOverride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B284-F30D-FEC0-93FF-285CC44DD333}"/>
              </a:ext>
            </a:extLst>
          </p:cNvPr>
          <p:cNvSpPr>
            <a:spLocks noGrp="1"/>
          </p:cNvSpPr>
          <p:nvPr>
            <p:ph type="ctrTitle"/>
          </p:nvPr>
        </p:nvSpPr>
        <p:spPr>
          <a:solidFill>
            <a:schemeClr val="tx2"/>
          </a:solidFill>
        </p:spPr>
        <p:txBody>
          <a:bodyPr/>
          <a:lstStyle/>
          <a:p>
            <a:r>
              <a:rPr lang="en-SG" dirty="0">
                <a:solidFill>
                  <a:schemeClr val="bg1"/>
                </a:solidFill>
              </a:rPr>
              <a:t>HDB Resale Market Data Analysis</a:t>
            </a:r>
          </a:p>
        </p:txBody>
      </p:sp>
      <p:sp>
        <p:nvSpPr>
          <p:cNvPr id="3" name="Subtitle 2">
            <a:extLst>
              <a:ext uri="{FF2B5EF4-FFF2-40B4-BE49-F238E27FC236}">
                <a16:creationId xmlns:a16="http://schemas.microsoft.com/office/drawing/2014/main" id="{E5BD71E4-86FD-D42E-5853-BC96AAA646E6}"/>
              </a:ext>
            </a:extLst>
          </p:cNvPr>
          <p:cNvSpPr>
            <a:spLocks noGrp="1"/>
          </p:cNvSpPr>
          <p:nvPr>
            <p:ph type="subTitle" idx="1"/>
          </p:nvPr>
        </p:nvSpPr>
        <p:spPr/>
        <p:txBody>
          <a:bodyPr/>
          <a:lstStyle/>
          <a:p>
            <a:r>
              <a:rPr lang="en-SG" dirty="0"/>
              <a:t>Sheeba Soosai</a:t>
            </a:r>
          </a:p>
        </p:txBody>
      </p:sp>
    </p:spTree>
    <p:extLst>
      <p:ext uri="{BB962C8B-B14F-4D97-AF65-F5344CB8AC3E}">
        <p14:creationId xmlns:p14="http://schemas.microsoft.com/office/powerpoint/2010/main" val="269215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08BA-9BDB-A01E-99B6-442128D368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3F2B7D5-F164-201A-8E4C-E9EBC7D07C18}"/>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a:t>Problem Statement </a:t>
            </a:r>
            <a:endParaRPr lang="en-SG" sz="4000" dirty="0"/>
          </a:p>
        </p:txBody>
      </p:sp>
      <p:sp>
        <p:nvSpPr>
          <p:cNvPr id="3" name="TextBox 2">
            <a:extLst>
              <a:ext uri="{FF2B5EF4-FFF2-40B4-BE49-F238E27FC236}">
                <a16:creationId xmlns:a16="http://schemas.microsoft.com/office/drawing/2014/main" id="{A3BE0FCD-8BFA-8B7E-8DD4-444EDBC95DD6}"/>
              </a:ext>
            </a:extLst>
          </p:cNvPr>
          <p:cNvSpPr txBox="1"/>
          <p:nvPr/>
        </p:nvSpPr>
        <p:spPr>
          <a:xfrm>
            <a:off x="603336" y="1347801"/>
            <a:ext cx="10985327" cy="2954655"/>
          </a:xfrm>
          <a:prstGeom prst="rect">
            <a:avLst/>
          </a:prstGeom>
          <a:noFill/>
        </p:spPr>
        <p:txBody>
          <a:bodyPr wrap="square">
            <a:spAutoFit/>
          </a:bodyPr>
          <a:lstStyle/>
          <a:p>
            <a:pPr>
              <a:defRPr sz="1800">
                <a:solidFill>
                  <a:srgbClr val="3C3C3C"/>
                </a:solidFill>
              </a:defRPr>
            </a:pPr>
            <a:r>
              <a:rPr lang="en-US" sz="2800" dirty="0">
                <a:solidFill>
                  <a:srgbClr val="3C3C3C"/>
                </a:solidFill>
              </a:rPr>
              <a:t>A good understanding of the trends, patterns and key influencing factors of the Singapore HDB resale prices is important for the residents of Singapore. However, it is challenging to discover such valuable information from the HDB resale market data. This requires </a:t>
            </a:r>
            <a:r>
              <a:rPr lang="en-US" sz="2800" dirty="0"/>
              <a:t>a structured data analysis approach.</a:t>
            </a:r>
            <a:br>
              <a:rPr lang="en-US" sz="2800" dirty="0"/>
            </a:br>
            <a:endParaRPr lang="en-US" sz="2800" dirty="0"/>
          </a:p>
          <a:p>
            <a:pPr>
              <a:defRPr sz="1800">
                <a:solidFill>
                  <a:srgbClr val="3C3C3C"/>
                </a:solidFill>
              </a:defRPr>
            </a:pPr>
            <a:endParaRPr lang="en-US" dirty="0"/>
          </a:p>
        </p:txBody>
      </p:sp>
    </p:spTree>
    <p:extLst>
      <p:ext uri="{BB962C8B-B14F-4D97-AF65-F5344CB8AC3E}">
        <p14:creationId xmlns:p14="http://schemas.microsoft.com/office/powerpoint/2010/main" val="1459439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C406-E8F8-3F6A-A39E-5E9A291FEC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328334A-7ADA-4D13-8E7F-451E91EC896E}"/>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dirty="0"/>
              <a:t>Objectives</a:t>
            </a:r>
            <a:endParaRPr sz="4000" dirty="0"/>
          </a:p>
        </p:txBody>
      </p:sp>
      <p:sp>
        <p:nvSpPr>
          <p:cNvPr id="3" name="TextBox 2">
            <a:extLst>
              <a:ext uri="{FF2B5EF4-FFF2-40B4-BE49-F238E27FC236}">
                <a16:creationId xmlns:a16="http://schemas.microsoft.com/office/drawing/2014/main" id="{13424673-78F6-EE28-2ABA-44A8A7D635B1}"/>
              </a:ext>
            </a:extLst>
          </p:cNvPr>
          <p:cNvSpPr txBox="1"/>
          <p:nvPr/>
        </p:nvSpPr>
        <p:spPr>
          <a:xfrm>
            <a:off x="763929" y="1134321"/>
            <a:ext cx="10058400" cy="4247317"/>
          </a:xfrm>
          <a:prstGeom prst="rect">
            <a:avLst/>
          </a:prstGeom>
          <a:noFill/>
        </p:spPr>
        <p:txBody>
          <a:bodyPr wrap="square">
            <a:spAutoFit/>
          </a:bodyPr>
          <a:lstStyle/>
          <a:p>
            <a:endParaRPr dirty="0"/>
          </a:p>
          <a:p>
            <a:pPr>
              <a:defRPr sz="1800">
                <a:solidFill>
                  <a:srgbClr val="3C3C3C"/>
                </a:solidFill>
              </a:defRPr>
            </a:pPr>
            <a:r>
              <a:rPr lang="en-US" sz="2800" b="1" dirty="0"/>
              <a:t>1. </a:t>
            </a:r>
            <a:r>
              <a:rPr lang="en-US" sz="2800" dirty="0"/>
              <a:t>Analyze long-term market trends (2000–2023)</a:t>
            </a:r>
          </a:p>
          <a:p>
            <a:pPr>
              <a:defRPr sz="1800">
                <a:solidFill>
                  <a:srgbClr val="3C3C3C"/>
                </a:solidFill>
              </a:defRPr>
            </a:pPr>
            <a:br>
              <a:rPr lang="en-US" sz="2800" dirty="0"/>
            </a:br>
            <a:r>
              <a:rPr lang="en-US" sz="2800" b="1" dirty="0"/>
              <a:t>2. </a:t>
            </a:r>
            <a:r>
              <a:rPr lang="en-US" sz="2800" dirty="0"/>
              <a:t>Compare regional-level prices</a:t>
            </a:r>
          </a:p>
          <a:p>
            <a:pPr>
              <a:defRPr sz="1800">
                <a:solidFill>
                  <a:srgbClr val="3C3C3C"/>
                </a:solidFill>
              </a:defRPr>
            </a:pPr>
            <a:br>
              <a:rPr lang="en-US" sz="2800" dirty="0"/>
            </a:br>
            <a:r>
              <a:rPr lang="en-US" sz="2800" b="1" dirty="0"/>
              <a:t>3. </a:t>
            </a:r>
            <a:r>
              <a:rPr lang="en-US" sz="2800" dirty="0"/>
              <a:t>Analyse town-level clusters</a:t>
            </a:r>
          </a:p>
          <a:p>
            <a:pPr>
              <a:defRPr sz="1800">
                <a:solidFill>
                  <a:srgbClr val="3C3C3C"/>
                </a:solidFill>
              </a:defRPr>
            </a:pPr>
            <a:br>
              <a:rPr lang="en-US" sz="2800" dirty="0"/>
            </a:br>
            <a:r>
              <a:rPr lang="en-US" sz="2800" b="1" dirty="0"/>
              <a:t>4. </a:t>
            </a:r>
            <a:r>
              <a:rPr lang="en-US" sz="2800" dirty="0"/>
              <a:t>Identify key factors influencing resale value</a:t>
            </a:r>
          </a:p>
          <a:p>
            <a:pPr>
              <a:defRPr sz="1800">
                <a:solidFill>
                  <a:srgbClr val="3C3C3C"/>
                </a:solidFill>
              </a:defRPr>
            </a:pPr>
            <a:br>
              <a:rPr lang="en-US" sz="2800" dirty="0"/>
            </a:br>
            <a:r>
              <a:rPr lang="en-US" sz="2800" b="1" dirty="0"/>
              <a:t>5. </a:t>
            </a:r>
            <a:r>
              <a:rPr lang="en-US" sz="2800" dirty="0"/>
              <a:t>Provide insights and recommendations for stakeholders.</a:t>
            </a:r>
            <a:endParaRPr sz="2800" dirty="0"/>
          </a:p>
        </p:txBody>
      </p:sp>
    </p:spTree>
    <p:extLst>
      <p:ext uri="{BB962C8B-B14F-4D97-AF65-F5344CB8AC3E}">
        <p14:creationId xmlns:p14="http://schemas.microsoft.com/office/powerpoint/2010/main" val="6228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2020-74EA-989D-B863-83E674D45B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1D8A8F-9FE9-C06A-2449-1CD38C7C35BA}"/>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4000" dirty="0"/>
              <a:t>Data Overview</a:t>
            </a:r>
          </a:p>
        </p:txBody>
      </p:sp>
      <p:graphicFrame>
        <p:nvGraphicFramePr>
          <p:cNvPr id="4" name="TextBox 2">
            <a:extLst>
              <a:ext uri="{FF2B5EF4-FFF2-40B4-BE49-F238E27FC236}">
                <a16:creationId xmlns:a16="http://schemas.microsoft.com/office/drawing/2014/main" id="{9149985D-7559-D5FA-A19D-7D3EC7CB9ADC}"/>
              </a:ext>
            </a:extLst>
          </p:cNvPr>
          <p:cNvGraphicFramePr/>
          <p:nvPr>
            <p:extLst>
              <p:ext uri="{D42A27DB-BD31-4B8C-83A1-F6EECF244321}">
                <p14:modId xmlns:p14="http://schemas.microsoft.com/office/powerpoint/2010/main" val="3250027233"/>
              </p:ext>
            </p:extLst>
          </p:nvPr>
        </p:nvGraphicFramePr>
        <p:xfrm>
          <a:off x="458862" y="1568569"/>
          <a:ext cx="11312592"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3190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8601-CE44-F689-7DF8-082E9E3370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DFC5205-4A57-E7F3-5CF0-59D14077E413}"/>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Data </a:t>
            </a:r>
            <a:r>
              <a:rPr lang="en-SG" sz="4000" dirty="0"/>
              <a:t>Preparation</a:t>
            </a:r>
            <a:endParaRPr sz="4000" dirty="0"/>
          </a:p>
        </p:txBody>
      </p:sp>
      <p:sp>
        <p:nvSpPr>
          <p:cNvPr id="3" name="TextBox 2">
            <a:extLst>
              <a:ext uri="{FF2B5EF4-FFF2-40B4-BE49-F238E27FC236}">
                <a16:creationId xmlns:a16="http://schemas.microsoft.com/office/drawing/2014/main" id="{A3CD109D-36B8-B2EC-36F0-39C0AEA0495D}"/>
              </a:ext>
            </a:extLst>
          </p:cNvPr>
          <p:cNvSpPr txBox="1"/>
          <p:nvPr/>
        </p:nvSpPr>
        <p:spPr>
          <a:xfrm>
            <a:off x="914400" y="1097280"/>
            <a:ext cx="10995949" cy="5109091"/>
          </a:xfrm>
          <a:prstGeom prst="rect">
            <a:avLst/>
          </a:prstGeom>
          <a:noFill/>
        </p:spPr>
        <p:txBody>
          <a:bodyPr wrap="square">
            <a:spAutoFit/>
          </a:bodyPr>
          <a:lstStyle/>
          <a:p>
            <a:endParaRPr dirty="0"/>
          </a:p>
          <a:p>
            <a:pPr>
              <a:defRPr sz="1800">
                <a:solidFill>
                  <a:srgbClr val="3C3C3C"/>
                </a:solidFill>
              </a:defRPr>
            </a:pPr>
            <a:r>
              <a:rPr lang="en-SG" sz="2400" b="1" dirty="0"/>
              <a:t>	Data Collection</a:t>
            </a:r>
            <a:r>
              <a:rPr sz="2400" b="1" dirty="0"/>
              <a:t>:</a:t>
            </a:r>
            <a:r>
              <a:rPr lang="en-SG" sz="2400" b="1" dirty="0"/>
              <a:t> </a:t>
            </a:r>
            <a:r>
              <a:rPr lang="en-SG" sz="2000" dirty="0"/>
              <a:t>Imported data from 4 csv files</a:t>
            </a:r>
          </a:p>
          <a:p>
            <a:pPr>
              <a:defRPr sz="1800">
                <a:solidFill>
                  <a:srgbClr val="3C3C3C"/>
                </a:solidFill>
              </a:defRPr>
            </a:pPr>
            <a:endParaRPr lang="en-SG" sz="2000" b="1" dirty="0"/>
          </a:p>
          <a:p>
            <a:pPr>
              <a:defRPr sz="1800">
                <a:solidFill>
                  <a:srgbClr val="3C3C3C"/>
                </a:solidFill>
              </a:defRPr>
            </a:pPr>
            <a:r>
              <a:rPr lang="en-SG" sz="2400" b="1" dirty="0"/>
              <a:t>	Data Transformation: </a:t>
            </a:r>
            <a:r>
              <a:rPr lang="en-US" sz="2000" dirty="0">
                <a:solidFill>
                  <a:srgbClr val="3C3C3C"/>
                </a:solidFill>
              </a:rPr>
              <a:t>Created the ‘Remaining Lease’ column using Power Query M language 								and transformed it into a numeric format for analysis.</a:t>
            </a:r>
          </a:p>
          <a:p>
            <a:pPr>
              <a:defRPr sz="1800">
                <a:solidFill>
                  <a:srgbClr val="3C3C3C"/>
                </a:solidFill>
              </a:defRPr>
            </a:pPr>
            <a:endParaRPr lang="en-SG" sz="2000" dirty="0">
              <a:solidFill>
                <a:srgbClr val="3C3C3C"/>
              </a:solidFill>
            </a:endParaRPr>
          </a:p>
          <a:p>
            <a:pPr>
              <a:defRPr sz="1800">
                <a:solidFill>
                  <a:srgbClr val="3C3C3C"/>
                </a:solidFill>
              </a:defRPr>
            </a:pPr>
            <a:r>
              <a:rPr lang="en-SG" sz="2400" b="1" dirty="0"/>
              <a:t>	Created Date Table: </a:t>
            </a:r>
            <a:r>
              <a:rPr lang="en-SG" sz="2000" dirty="0"/>
              <a:t>Added Columns: Year, Quarter, Month</a:t>
            </a:r>
          </a:p>
          <a:p>
            <a:pPr>
              <a:defRPr sz="1800">
                <a:solidFill>
                  <a:srgbClr val="3C3C3C"/>
                </a:solidFill>
              </a:defRPr>
            </a:pPr>
            <a:endParaRPr lang="en-SG" sz="2400" b="1" dirty="0"/>
          </a:p>
          <a:p>
            <a:pPr>
              <a:defRPr sz="1800">
                <a:solidFill>
                  <a:srgbClr val="3C3C3C"/>
                </a:solidFill>
              </a:defRPr>
            </a:pPr>
            <a:r>
              <a:rPr lang="en-SG" sz="2400" b="1" dirty="0"/>
              <a:t>	Data Modelling: </a:t>
            </a:r>
            <a:r>
              <a:rPr lang="en-SG" sz="2000" dirty="0"/>
              <a:t>Establish relationships</a:t>
            </a:r>
          </a:p>
          <a:p>
            <a:pPr>
              <a:defRPr sz="1800">
                <a:solidFill>
                  <a:srgbClr val="3C3C3C"/>
                </a:solidFill>
              </a:defRPr>
            </a:pPr>
            <a:r>
              <a:rPr lang="en-SG" sz="2000" b="1" dirty="0"/>
              <a:t>						</a:t>
            </a:r>
            <a:r>
              <a:rPr lang="en-SG" sz="2000" dirty="0"/>
              <a:t>1. HDB Sales(Fact) -&gt; Date(Dimension)</a:t>
            </a:r>
          </a:p>
          <a:p>
            <a:pPr>
              <a:defRPr sz="1800">
                <a:solidFill>
                  <a:srgbClr val="3C3C3C"/>
                </a:solidFill>
              </a:defRPr>
            </a:pPr>
            <a:r>
              <a:rPr lang="en-SG" sz="2000" b="1" dirty="0"/>
              <a:t>						</a:t>
            </a:r>
            <a:r>
              <a:rPr lang="en-SG" sz="2000" dirty="0"/>
              <a:t>2. HDB Sales(Fact) -&gt; Region(Dimension)</a:t>
            </a:r>
            <a:r>
              <a:rPr lang="en-SG" sz="2000" b="1" dirty="0"/>
              <a:t>	</a:t>
            </a:r>
            <a:br>
              <a:rPr sz="2400" dirty="0"/>
            </a:br>
            <a:r>
              <a:rPr lang="en-SG" sz="2400" dirty="0"/>
              <a:t>     	</a:t>
            </a:r>
            <a:r>
              <a:rPr lang="en-SG" sz="2400" b="1" dirty="0"/>
              <a:t>Prepared for Analysis: </a:t>
            </a:r>
          </a:p>
          <a:p>
            <a:pPr>
              <a:defRPr sz="1800">
                <a:solidFill>
                  <a:srgbClr val="3C3C3C"/>
                </a:solidFill>
              </a:defRPr>
            </a:pPr>
            <a:r>
              <a:rPr lang="en-SG" sz="2400" b="1" dirty="0"/>
              <a:t>		</a:t>
            </a:r>
            <a:r>
              <a:rPr lang="en-SG" sz="2000" dirty="0"/>
              <a:t>Created Calculated Column:  Flat age, Flat age group, Price per sqm, Location</a:t>
            </a:r>
          </a:p>
          <a:p>
            <a:pPr>
              <a:defRPr sz="1800">
                <a:solidFill>
                  <a:srgbClr val="3C3C3C"/>
                </a:solidFill>
              </a:defRPr>
            </a:pPr>
            <a:r>
              <a:rPr lang="en-SG" sz="2000" dirty="0"/>
              <a:t>		Measures: Median Price, Lowest Price, Highest Price, Average Price, Average Price per sqm, 			Total Transactions, Price YoY Change, Transaction YOY Change </a:t>
            </a:r>
            <a:endParaRPr sz="2400" dirty="0"/>
          </a:p>
        </p:txBody>
      </p:sp>
      <p:pic>
        <p:nvPicPr>
          <p:cNvPr id="5" name="Picture 4" descr="A magnifying glass over a paper&#10;&#10;AI-generated content may be incorrect.">
            <a:extLst>
              <a:ext uri="{FF2B5EF4-FFF2-40B4-BE49-F238E27FC236}">
                <a16:creationId xmlns:a16="http://schemas.microsoft.com/office/drawing/2014/main" id="{E33B5982-A6E5-C102-08E7-16CA97D0A323}"/>
              </a:ext>
            </a:extLst>
          </p:cNvPr>
          <p:cNvPicPr>
            <a:picLocks noChangeAspect="1"/>
          </p:cNvPicPr>
          <p:nvPr/>
        </p:nvPicPr>
        <p:blipFill>
          <a:blip r:embed="rId3"/>
          <a:stretch>
            <a:fillRect/>
          </a:stretch>
        </p:blipFill>
        <p:spPr>
          <a:xfrm>
            <a:off x="844955" y="4779402"/>
            <a:ext cx="360000" cy="360000"/>
          </a:xfrm>
          <a:prstGeom prst="rect">
            <a:avLst/>
          </a:prstGeom>
        </p:spPr>
      </p:pic>
      <p:pic>
        <p:nvPicPr>
          <p:cNvPr id="9" name="Picture 8" descr="A computer network diagram with a circular object and a globe&#10;&#10;AI-generated content may be incorrect.">
            <a:extLst>
              <a:ext uri="{FF2B5EF4-FFF2-40B4-BE49-F238E27FC236}">
                <a16:creationId xmlns:a16="http://schemas.microsoft.com/office/drawing/2014/main" id="{587F2A2A-89DD-4401-70BA-85C61531D3A3}"/>
              </a:ext>
            </a:extLst>
          </p:cNvPr>
          <p:cNvPicPr>
            <a:picLocks noChangeAspect="1"/>
          </p:cNvPicPr>
          <p:nvPr/>
        </p:nvPicPr>
        <p:blipFill>
          <a:blip r:embed="rId4"/>
          <a:stretch>
            <a:fillRect/>
          </a:stretch>
        </p:blipFill>
        <p:spPr>
          <a:xfrm>
            <a:off x="857807" y="1479363"/>
            <a:ext cx="360000" cy="360000"/>
          </a:xfrm>
          <a:prstGeom prst="rect">
            <a:avLst/>
          </a:prstGeom>
        </p:spPr>
      </p:pic>
      <p:pic>
        <p:nvPicPr>
          <p:cNvPr id="11" name="Picture 10" descr="A blue circular object with stars and a broom&#10;&#10;AI-generated content may be incorrect.">
            <a:extLst>
              <a:ext uri="{FF2B5EF4-FFF2-40B4-BE49-F238E27FC236}">
                <a16:creationId xmlns:a16="http://schemas.microsoft.com/office/drawing/2014/main" id="{A7A6EED1-6609-38EE-FA5D-71B490DCCCA7}"/>
              </a:ext>
            </a:extLst>
          </p:cNvPr>
          <p:cNvPicPr>
            <a:picLocks noChangeAspect="1"/>
          </p:cNvPicPr>
          <p:nvPr/>
        </p:nvPicPr>
        <p:blipFill>
          <a:blip r:embed="rId5"/>
          <a:stretch>
            <a:fillRect/>
          </a:stretch>
        </p:blipFill>
        <p:spPr>
          <a:xfrm>
            <a:off x="844955" y="2074537"/>
            <a:ext cx="360000" cy="360000"/>
          </a:xfrm>
          <a:prstGeom prst="rect">
            <a:avLst/>
          </a:prstGeom>
        </p:spPr>
      </p:pic>
      <p:pic>
        <p:nvPicPr>
          <p:cNvPr id="13" name="Picture 12" descr="A calendar with a spiral bound page&#10;&#10;AI-generated content may be incorrect.">
            <a:extLst>
              <a:ext uri="{FF2B5EF4-FFF2-40B4-BE49-F238E27FC236}">
                <a16:creationId xmlns:a16="http://schemas.microsoft.com/office/drawing/2014/main" id="{AC0F48E7-C63F-EE84-B402-3459F55A8582}"/>
              </a:ext>
            </a:extLst>
          </p:cNvPr>
          <p:cNvPicPr>
            <a:picLocks noChangeAspect="1"/>
          </p:cNvPicPr>
          <p:nvPr/>
        </p:nvPicPr>
        <p:blipFill>
          <a:blip r:embed="rId6"/>
          <a:stretch>
            <a:fillRect/>
          </a:stretch>
        </p:blipFill>
        <p:spPr>
          <a:xfrm>
            <a:off x="844955" y="3044170"/>
            <a:ext cx="360000" cy="360000"/>
          </a:xfrm>
          <a:prstGeom prst="rect">
            <a:avLst/>
          </a:prstGeom>
        </p:spPr>
      </p:pic>
      <p:pic>
        <p:nvPicPr>
          <p:cNvPr id="17" name="Picture 16" descr="A yellow and grey object with a yellow cylinder&#10;&#10;AI-generated content may be incorrect.">
            <a:extLst>
              <a:ext uri="{FF2B5EF4-FFF2-40B4-BE49-F238E27FC236}">
                <a16:creationId xmlns:a16="http://schemas.microsoft.com/office/drawing/2014/main" id="{0FB56D39-BA51-58B0-A426-6A46F5803394}"/>
              </a:ext>
            </a:extLst>
          </p:cNvPr>
          <p:cNvPicPr>
            <a:picLocks noChangeAspect="1"/>
          </p:cNvPicPr>
          <p:nvPr/>
        </p:nvPicPr>
        <p:blipFill>
          <a:blip r:embed="rId7"/>
          <a:stretch>
            <a:fillRect/>
          </a:stretch>
        </p:blipFill>
        <p:spPr>
          <a:xfrm>
            <a:off x="860979" y="3798552"/>
            <a:ext cx="360000" cy="360000"/>
          </a:xfrm>
          <a:prstGeom prst="rect">
            <a:avLst/>
          </a:prstGeom>
        </p:spPr>
      </p:pic>
    </p:spTree>
    <p:extLst>
      <p:ext uri="{BB962C8B-B14F-4D97-AF65-F5344CB8AC3E}">
        <p14:creationId xmlns:p14="http://schemas.microsoft.com/office/powerpoint/2010/main" val="6275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04A2-45D3-C3B7-4104-9B8AD7BAEB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5393B1-F760-CBD3-34E5-F849D2BB8E07}"/>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SG" sz="4000" dirty="0"/>
              <a:t>Entity Relationship (ER) Diagram</a:t>
            </a:r>
            <a:endParaRPr sz="4000" dirty="0"/>
          </a:p>
        </p:txBody>
      </p:sp>
      <p:sp>
        <p:nvSpPr>
          <p:cNvPr id="3" name="TextBox 2">
            <a:extLst>
              <a:ext uri="{FF2B5EF4-FFF2-40B4-BE49-F238E27FC236}">
                <a16:creationId xmlns:a16="http://schemas.microsoft.com/office/drawing/2014/main" id="{CBB0302F-A971-1F14-A548-9A1FFAD6D4A6}"/>
              </a:ext>
            </a:extLst>
          </p:cNvPr>
          <p:cNvSpPr txBox="1"/>
          <p:nvPr/>
        </p:nvSpPr>
        <p:spPr>
          <a:xfrm>
            <a:off x="0" y="1097280"/>
            <a:ext cx="12192000" cy="738664"/>
          </a:xfrm>
          <a:prstGeom prst="rect">
            <a:avLst/>
          </a:prstGeom>
          <a:noFill/>
        </p:spPr>
        <p:txBody>
          <a:bodyPr wrap="square">
            <a:spAutoFit/>
          </a:bodyPr>
          <a:lstStyle/>
          <a:p>
            <a:endParaRPr dirty="0"/>
          </a:p>
          <a:p>
            <a:pPr>
              <a:defRPr sz="1800">
                <a:solidFill>
                  <a:srgbClr val="3C3C3C"/>
                </a:solidFill>
              </a:defRPr>
            </a:pPr>
            <a:r>
              <a:rPr lang="en-SG" sz="2400" b="1" dirty="0"/>
              <a:t>	</a:t>
            </a:r>
            <a:endParaRPr sz="2400" dirty="0"/>
          </a:p>
        </p:txBody>
      </p:sp>
      <p:pic>
        <p:nvPicPr>
          <p:cNvPr id="5" name="Picture 4">
            <a:extLst>
              <a:ext uri="{FF2B5EF4-FFF2-40B4-BE49-F238E27FC236}">
                <a16:creationId xmlns:a16="http://schemas.microsoft.com/office/drawing/2014/main" id="{1A5803AC-444F-6103-01AA-94D4262FE31A}"/>
              </a:ext>
            </a:extLst>
          </p:cNvPr>
          <p:cNvPicPr>
            <a:picLocks noChangeAspect="1"/>
          </p:cNvPicPr>
          <p:nvPr/>
        </p:nvPicPr>
        <p:blipFill>
          <a:blip r:embed="rId3"/>
          <a:stretch>
            <a:fillRect/>
          </a:stretch>
        </p:blipFill>
        <p:spPr>
          <a:xfrm>
            <a:off x="3147848" y="914401"/>
            <a:ext cx="6060571" cy="5943600"/>
          </a:xfrm>
          <a:prstGeom prst="rect">
            <a:avLst/>
          </a:prstGeom>
        </p:spPr>
      </p:pic>
    </p:spTree>
    <p:extLst>
      <p:ext uri="{BB962C8B-B14F-4D97-AF65-F5344CB8AC3E}">
        <p14:creationId xmlns:p14="http://schemas.microsoft.com/office/powerpoint/2010/main" val="408792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88D6-8DB2-51BE-D2F6-36409D2E30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B39ED1-DB88-7FCD-B1C6-500B8B97CA3F}"/>
              </a:ext>
            </a:extLst>
          </p:cNvPr>
          <p:cNvSpPr/>
          <p:nvPr/>
        </p:nvSpPr>
        <p:spPr>
          <a:xfrm>
            <a:off x="0" y="0"/>
            <a:ext cx="12342312"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sz="4000" dirty="0"/>
              <a:t>Data</a:t>
            </a:r>
            <a:r>
              <a:rPr lang="en-SG" sz="4000" dirty="0"/>
              <a:t> </a:t>
            </a:r>
            <a:r>
              <a:rPr lang="en-US" sz="4000" b="1" dirty="0"/>
              <a:t>Profiling and Quality Overview</a:t>
            </a:r>
            <a:endParaRPr sz="4000" dirty="0"/>
          </a:p>
        </p:txBody>
      </p:sp>
      <p:sp>
        <p:nvSpPr>
          <p:cNvPr id="3" name="TextBox 2">
            <a:extLst>
              <a:ext uri="{FF2B5EF4-FFF2-40B4-BE49-F238E27FC236}">
                <a16:creationId xmlns:a16="http://schemas.microsoft.com/office/drawing/2014/main" id="{D534175B-C7E4-C9B4-CBE0-D8BE14E54A8E}"/>
              </a:ext>
            </a:extLst>
          </p:cNvPr>
          <p:cNvSpPr txBox="1"/>
          <p:nvPr/>
        </p:nvSpPr>
        <p:spPr>
          <a:xfrm>
            <a:off x="0" y="1097280"/>
            <a:ext cx="12192000" cy="738664"/>
          </a:xfrm>
          <a:prstGeom prst="rect">
            <a:avLst/>
          </a:prstGeom>
          <a:noFill/>
        </p:spPr>
        <p:txBody>
          <a:bodyPr wrap="square">
            <a:spAutoFit/>
          </a:bodyPr>
          <a:lstStyle/>
          <a:p>
            <a:endParaRPr dirty="0"/>
          </a:p>
          <a:p>
            <a:pPr>
              <a:defRPr sz="1800">
                <a:solidFill>
                  <a:srgbClr val="3C3C3C"/>
                </a:solidFill>
              </a:defRPr>
            </a:pPr>
            <a:r>
              <a:rPr lang="en-SG" sz="2400" b="1" dirty="0"/>
              <a:t>	</a:t>
            </a:r>
            <a:endParaRPr sz="2400" dirty="0"/>
          </a:p>
        </p:txBody>
      </p:sp>
      <p:pic>
        <p:nvPicPr>
          <p:cNvPr id="4" name="Picture 3" descr="A screenshot of a computer&#10;&#10;AI-generated content may be incorrect.">
            <a:extLst>
              <a:ext uri="{FF2B5EF4-FFF2-40B4-BE49-F238E27FC236}">
                <a16:creationId xmlns:a16="http://schemas.microsoft.com/office/drawing/2014/main" id="{300170AF-51AE-9F4E-A086-2D97E2C8D3EF}"/>
              </a:ext>
            </a:extLst>
          </p:cNvPr>
          <p:cNvPicPr>
            <a:picLocks noChangeAspect="1"/>
          </p:cNvPicPr>
          <p:nvPr/>
        </p:nvPicPr>
        <p:blipFill>
          <a:blip r:embed="rId3"/>
          <a:stretch>
            <a:fillRect/>
          </a:stretch>
        </p:blipFill>
        <p:spPr>
          <a:xfrm>
            <a:off x="6359745" y="983609"/>
            <a:ext cx="5709600" cy="240865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EDC5614-C0B8-0BBD-A81C-9F36210DB8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553" y="983609"/>
            <a:ext cx="5731510" cy="24084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3F02F2C-3DE8-36EE-D931-5A7BE9FB5C8D}"/>
              </a:ext>
            </a:extLst>
          </p:cNvPr>
          <p:cNvPicPr>
            <a:picLocks noChangeAspect="1"/>
          </p:cNvPicPr>
          <p:nvPr/>
        </p:nvPicPr>
        <p:blipFill>
          <a:blip r:embed="rId5"/>
          <a:stretch>
            <a:fillRect/>
          </a:stretch>
        </p:blipFill>
        <p:spPr>
          <a:xfrm>
            <a:off x="6381345" y="3613118"/>
            <a:ext cx="5688000" cy="322273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7CE5761-2619-DB31-D3EF-1FC7E12F9FA5}"/>
              </a:ext>
            </a:extLst>
          </p:cNvPr>
          <p:cNvPicPr>
            <a:picLocks noChangeAspect="1"/>
          </p:cNvPicPr>
          <p:nvPr/>
        </p:nvPicPr>
        <p:blipFill>
          <a:blip r:embed="rId6"/>
          <a:stretch>
            <a:fillRect/>
          </a:stretch>
        </p:blipFill>
        <p:spPr>
          <a:xfrm>
            <a:off x="122656" y="3505680"/>
            <a:ext cx="5688000" cy="3281975"/>
          </a:xfrm>
          <a:prstGeom prst="rect">
            <a:avLst/>
          </a:prstGeom>
        </p:spPr>
      </p:pic>
      <p:sp>
        <p:nvSpPr>
          <p:cNvPr id="10" name="TextBox 9">
            <a:extLst>
              <a:ext uri="{FF2B5EF4-FFF2-40B4-BE49-F238E27FC236}">
                <a16:creationId xmlns:a16="http://schemas.microsoft.com/office/drawing/2014/main" id="{3280583E-B888-2DD4-B7D9-B2FA4653339A}"/>
              </a:ext>
            </a:extLst>
          </p:cNvPr>
          <p:cNvSpPr txBox="1"/>
          <p:nvPr/>
        </p:nvSpPr>
        <p:spPr>
          <a:xfrm>
            <a:off x="3745149" y="2636196"/>
            <a:ext cx="1906621" cy="369332"/>
          </a:xfrm>
          <a:prstGeom prst="rect">
            <a:avLst/>
          </a:prstGeom>
          <a:noFill/>
        </p:spPr>
        <p:txBody>
          <a:bodyPr wrap="square" rtlCol="0">
            <a:spAutoFit/>
          </a:bodyPr>
          <a:lstStyle/>
          <a:p>
            <a:pPr algn="ctr"/>
            <a:r>
              <a:rPr lang="en-SG" dirty="0">
                <a:solidFill>
                  <a:srgbClr val="05295B"/>
                </a:solidFill>
                <a:highlight>
                  <a:srgbClr val="00FFFF"/>
                </a:highlight>
              </a:rPr>
              <a:t>Remaining Lease</a:t>
            </a:r>
          </a:p>
        </p:txBody>
      </p:sp>
      <p:sp>
        <p:nvSpPr>
          <p:cNvPr id="12" name="TextBox 11">
            <a:extLst>
              <a:ext uri="{FF2B5EF4-FFF2-40B4-BE49-F238E27FC236}">
                <a16:creationId xmlns:a16="http://schemas.microsoft.com/office/drawing/2014/main" id="{E4E6B9C0-0C21-3A55-57FD-461FEB858288}"/>
              </a:ext>
            </a:extLst>
          </p:cNvPr>
          <p:cNvSpPr txBox="1"/>
          <p:nvPr/>
        </p:nvSpPr>
        <p:spPr>
          <a:xfrm>
            <a:off x="3625175" y="6183549"/>
            <a:ext cx="1906621" cy="369332"/>
          </a:xfrm>
          <a:prstGeom prst="rect">
            <a:avLst/>
          </a:prstGeom>
          <a:noFill/>
        </p:spPr>
        <p:txBody>
          <a:bodyPr wrap="square" rtlCol="0">
            <a:spAutoFit/>
          </a:bodyPr>
          <a:lstStyle/>
          <a:p>
            <a:pPr algn="ctr"/>
            <a:r>
              <a:rPr lang="en-SG" dirty="0">
                <a:solidFill>
                  <a:srgbClr val="05295B"/>
                </a:solidFill>
                <a:highlight>
                  <a:srgbClr val="00FFFF"/>
                </a:highlight>
              </a:rPr>
              <a:t>Storey Range</a:t>
            </a:r>
          </a:p>
        </p:txBody>
      </p:sp>
      <p:sp>
        <p:nvSpPr>
          <p:cNvPr id="14" name="TextBox 13">
            <a:extLst>
              <a:ext uri="{FF2B5EF4-FFF2-40B4-BE49-F238E27FC236}">
                <a16:creationId xmlns:a16="http://schemas.microsoft.com/office/drawing/2014/main" id="{D0B28920-3BB2-5766-E9FB-FF6E9593B2CC}"/>
              </a:ext>
            </a:extLst>
          </p:cNvPr>
          <p:cNvSpPr txBox="1"/>
          <p:nvPr/>
        </p:nvSpPr>
        <p:spPr>
          <a:xfrm>
            <a:off x="10162724" y="6218898"/>
            <a:ext cx="1906621" cy="369332"/>
          </a:xfrm>
          <a:prstGeom prst="rect">
            <a:avLst/>
          </a:prstGeom>
          <a:noFill/>
        </p:spPr>
        <p:txBody>
          <a:bodyPr wrap="square" rtlCol="0">
            <a:spAutoFit/>
          </a:bodyPr>
          <a:lstStyle/>
          <a:p>
            <a:pPr algn="ctr"/>
            <a:r>
              <a:rPr lang="en-SG" dirty="0">
                <a:solidFill>
                  <a:srgbClr val="05295B"/>
                </a:solidFill>
                <a:highlight>
                  <a:srgbClr val="00FFFF"/>
                </a:highlight>
              </a:rPr>
              <a:t>Flat Type</a:t>
            </a:r>
          </a:p>
        </p:txBody>
      </p:sp>
      <p:sp>
        <p:nvSpPr>
          <p:cNvPr id="15" name="TextBox 14">
            <a:extLst>
              <a:ext uri="{FF2B5EF4-FFF2-40B4-BE49-F238E27FC236}">
                <a16:creationId xmlns:a16="http://schemas.microsoft.com/office/drawing/2014/main" id="{C37945EC-DF85-9A7B-F8B3-8C32A85D1C38}"/>
              </a:ext>
            </a:extLst>
          </p:cNvPr>
          <p:cNvSpPr txBox="1"/>
          <p:nvPr/>
        </p:nvSpPr>
        <p:spPr>
          <a:xfrm>
            <a:off x="10162724" y="3005528"/>
            <a:ext cx="1906621" cy="369332"/>
          </a:xfrm>
          <a:prstGeom prst="rect">
            <a:avLst/>
          </a:prstGeom>
          <a:noFill/>
        </p:spPr>
        <p:txBody>
          <a:bodyPr wrap="square" rtlCol="0">
            <a:spAutoFit/>
          </a:bodyPr>
          <a:lstStyle/>
          <a:p>
            <a:pPr algn="ctr"/>
            <a:r>
              <a:rPr lang="en-SG" dirty="0">
                <a:solidFill>
                  <a:srgbClr val="05295B"/>
                </a:solidFill>
                <a:highlight>
                  <a:srgbClr val="00FFFF"/>
                </a:highlight>
              </a:rPr>
              <a:t>Town</a:t>
            </a:r>
          </a:p>
        </p:txBody>
      </p:sp>
    </p:spTree>
    <p:extLst>
      <p:ext uri="{BB962C8B-B14F-4D97-AF65-F5344CB8AC3E}">
        <p14:creationId xmlns:p14="http://schemas.microsoft.com/office/powerpoint/2010/main" val="188636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0436-6549-A827-60BC-D2744B4DA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4E517-38E3-A998-8CFE-8BFBB1023D61}"/>
              </a:ext>
            </a:extLst>
          </p:cNvPr>
          <p:cNvSpPr>
            <a:spLocks noGrp="1"/>
          </p:cNvSpPr>
          <p:nvPr>
            <p:ph type="ctrTitle"/>
          </p:nvPr>
        </p:nvSpPr>
        <p:spPr>
          <a:xfrm>
            <a:off x="914400" y="2060978"/>
            <a:ext cx="10363200" cy="1470025"/>
          </a:xfrm>
          <a:solidFill>
            <a:schemeClr val="tx2"/>
          </a:solidFill>
        </p:spPr>
        <p:txBody>
          <a:bodyPr/>
          <a:lstStyle/>
          <a:p>
            <a:r>
              <a:rPr lang="en-SG" dirty="0">
                <a:solidFill>
                  <a:schemeClr val="bg1"/>
                </a:solidFill>
              </a:rPr>
              <a:t>SQL-Based Analysis</a:t>
            </a:r>
          </a:p>
        </p:txBody>
      </p:sp>
    </p:spTree>
    <p:extLst>
      <p:ext uri="{BB962C8B-B14F-4D97-AF65-F5344CB8AC3E}">
        <p14:creationId xmlns:p14="http://schemas.microsoft.com/office/powerpoint/2010/main" val="415826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011B2A91-CE12-6B55-5A70-67FC5832FE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0804C1-C702-6821-50FA-05D4680446A3}"/>
              </a:ext>
            </a:extLst>
          </p:cNvPr>
          <p:cNvSpPr>
            <a:spLocks noGrp="1"/>
          </p:cNvSpPr>
          <p:nvPr>
            <p:ph type="title"/>
          </p:nvPr>
        </p:nvSpPr>
        <p:spPr>
          <a:xfrm>
            <a:off x="823752" y="478872"/>
            <a:ext cx="5137081" cy="678597"/>
          </a:xfrm>
          <a:prstGeom prst="rect">
            <a:avLst/>
          </a:prstGeom>
          <a:solidFill>
            <a:schemeClr val="tx2"/>
          </a:solidFill>
        </p:spPr>
        <p:txBody>
          <a:bodyPr vert="horz" lIns="91440" tIns="45720" rIns="91440" bIns="45720" rtlCol="0" anchor="ctr">
            <a:normAutofit/>
          </a:bodyPr>
          <a:lstStyle/>
          <a:p>
            <a:pPr algn="ctr"/>
            <a:r>
              <a:rPr lang="en-SG" sz="2800" dirty="0">
                <a:solidFill>
                  <a:schemeClr val="bg1"/>
                </a:solidFill>
                <a:latin typeface="+mj-lt"/>
                <a:ea typeface="+mj-ea"/>
                <a:cs typeface="+mj-cs"/>
              </a:rPr>
              <a:t>Market Cluster Classification </a:t>
            </a:r>
            <a:endParaRPr lang="en-US" sz="2800" dirty="0">
              <a:solidFill>
                <a:schemeClr val="bg1"/>
              </a:solidFill>
              <a:latin typeface="+mj-lt"/>
              <a:ea typeface="+mj-ea"/>
              <a:cs typeface="+mj-cs"/>
            </a:endParaRPr>
          </a:p>
        </p:txBody>
      </p:sp>
      <p:sp>
        <p:nvSpPr>
          <p:cNvPr id="4" name="Text Placeholder 3">
            <a:extLst>
              <a:ext uri="{FF2B5EF4-FFF2-40B4-BE49-F238E27FC236}">
                <a16:creationId xmlns:a16="http://schemas.microsoft.com/office/drawing/2014/main" id="{967E374F-B6EF-D944-762C-602E4D60523F}"/>
              </a:ext>
            </a:extLst>
          </p:cNvPr>
          <p:cNvSpPr>
            <a:spLocks noGrp="1"/>
          </p:cNvSpPr>
          <p:nvPr>
            <p:ph type="body" sz="half" idx="2"/>
          </p:nvPr>
        </p:nvSpPr>
        <p:spPr>
          <a:xfrm>
            <a:off x="823752" y="1667715"/>
            <a:ext cx="5137081" cy="2441298"/>
          </a:xfrm>
        </p:spPr>
        <p:txBody>
          <a:bodyPr vert="horz" lIns="91440" tIns="45720" rIns="91440" bIns="45720" rtlCol="0" anchor="t">
            <a:normAutofit/>
          </a:bodyPr>
          <a:lstStyle/>
          <a:p>
            <a:pPr marL="0" lvl="1" defTabSz="914400">
              <a:lnSpc>
                <a:spcPct val="90000"/>
              </a:lnSpc>
            </a:pPr>
            <a:br>
              <a:rPr lang="en-US" sz="2800" dirty="0"/>
            </a:br>
            <a:r>
              <a:rPr lang="en-US" sz="2800" dirty="0"/>
              <a:t>Segments towns into market clusters by evaluating transaction demand and price affordability.</a:t>
            </a:r>
          </a:p>
          <a:p>
            <a:pPr indent="-228600" defTabSz="914400">
              <a:lnSpc>
                <a:spcPct val="90000"/>
              </a:lnSpc>
              <a:buFont typeface="Arial" panose="020B0604020202020204" pitchFamily="34" charset="0"/>
              <a:buChar char="•"/>
            </a:pPr>
            <a:endParaRPr lang="en-US" sz="1600" dirty="0"/>
          </a:p>
        </p:txBody>
      </p:sp>
      <p:pic>
        <p:nvPicPr>
          <p:cNvPr id="2" name="Picture 1">
            <a:extLst>
              <a:ext uri="{FF2B5EF4-FFF2-40B4-BE49-F238E27FC236}">
                <a16:creationId xmlns:a16="http://schemas.microsoft.com/office/drawing/2014/main" id="{39B78FC2-100E-AAC7-2F8C-691101966069}"/>
              </a:ext>
            </a:extLst>
          </p:cNvPr>
          <p:cNvPicPr>
            <a:picLocks noChangeAspect="1"/>
          </p:cNvPicPr>
          <p:nvPr/>
        </p:nvPicPr>
        <p:blipFill>
          <a:blip r:embed="rId4"/>
          <a:stretch>
            <a:fillRect/>
          </a:stretch>
        </p:blipFill>
        <p:spPr>
          <a:xfrm>
            <a:off x="7048983" y="188174"/>
            <a:ext cx="4824436" cy="6115185"/>
          </a:xfrm>
          <a:prstGeom prst="rect">
            <a:avLst/>
          </a:prstGeom>
        </p:spPr>
      </p:pic>
    </p:spTree>
    <p:extLst>
      <p:ext uri="{BB962C8B-B14F-4D97-AF65-F5344CB8AC3E}">
        <p14:creationId xmlns:p14="http://schemas.microsoft.com/office/powerpoint/2010/main" val="343071807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840CD09-A0D2-D165-69D9-6FE58B282C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B98A51-28DB-BDAD-8B77-51DD3F17CFBA}"/>
              </a:ext>
            </a:extLst>
          </p:cNvPr>
          <p:cNvSpPr>
            <a:spLocks noGrp="1"/>
          </p:cNvSpPr>
          <p:nvPr>
            <p:ph type="title"/>
          </p:nvPr>
        </p:nvSpPr>
        <p:spPr>
          <a:xfrm>
            <a:off x="127321" y="478872"/>
            <a:ext cx="6064793" cy="726825"/>
          </a:xfrm>
          <a:prstGeom prst="rect">
            <a:avLst/>
          </a:prstGeom>
          <a:solidFill>
            <a:schemeClr val="tx2"/>
          </a:solidFill>
        </p:spPr>
        <p:txBody>
          <a:bodyPr vert="horz" lIns="91440" tIns="45720" rIns="91440" bIns="45720" rtlCol="0" anchor="ctr">
            <a:normAutofit fontScale="90000"/>
          </a:bodyPr>
          <a:lstStyle/>
          <a:p>
            <a:pPr algn="ctr"/>
            <a:r>
              <a:rPr lang="en-SG" sz="2800" dirty="0">
                <a:solidFill>
                  <a:schemeClr val="bg1"/>
                </a:solidFill>
                <a:latin typeface="+mj-lt"/>
                <a:ea typeface="+mj-ea"/>
                <a:cs typeface="+mj-cs"/>
              </a:rPr>
              <a:t>Central vs Non-Central </a:t>
            </a:r>
            <a:r>
              <a:rPr lang="en-SG" sz="2800">
                <a:solidFill>
                  <a:schemeClr val="bg1"/>
                </a:solidFill>
                <a:latin typeface="+mj-lt"/>
                <a:ea typeface="+mj-ea"/>
                <a:cs typeface="+mj-cs"/>
              </a:rPr>
              <a:t>Market Comparison</a:t>
            </a:r>
            <a:endParaRPr lang="en-US" sz="2800" dirty="0">
              <a:solidFill>
                <a:schemeClr val="bg1"/>
              </a:solidFill>
              <a:latin typeface="+mj-lt"/>
              <a:ea typeface="+mj-ea"/>
              <a:cs typeface="+mj-cs"/>
            </a:endParaRPr>
          </a:p>
        </p:txBody>
      </p:sp>
      <p:sp>
        <p:nvSpPr>
          <p:cNvPr id="4" name="Text Placeholder 3">
            <a:extLst>
              <a:ext uri="{FF2B5EF4-FFF2-40B4-BE49-F238E27FC236}">
                <a16:creationId xmlns:a16="http://schemas.microsoft.com/office/drawing/2014/main" id="{3AE75B35-E1F6-7DBF-13D8-5F173C8C68D1}"/>
              </a:ext>
            </a:extLst>
          </p:cNvPr>
          <p:cNvSpPr>
            <a:spLocks noGrp="1"/>
          </p:cNvSpPr>
          <p:nvPr>
            <p:ph type="body" sz="half" idx="2"/>
          </p:nvPr>
        </p:nvSpPr>
        <p:spPr>
          <a:xfrm>
            <a:off x="673648" y="4556632"/>
            <a:ext cx="5348091" cy="1589526"/>
          </a:xfrm>
        </p:spPr>
        <p:txBody>
          <a:bodyPr vert="horz" lIns="91440" tIns="45720" rIns="91440" bIns="45720" rtlCol="0" anchor="t">
            <a:normAutofit/>
          </a:bodyPr>
          <a:lstStyle/>
          <a:p>
            <a:pPr marL="0" lvl="1" defTabSz="914400">
              <a:lnSpc>
                <a:spcPct val="90000"/>
              </a:lnSpc>
            </a:pPr>
            <a:r>
              <a:rPr lang="en-US" sz="2800" dirty="0"/>
              <a:t>Compares housing prices and transaction volume between Central and Non-Central regions.</a:t>
            </a:r>
            <a:endParaRPr lang="en-US" sz="1600" dirty="0"/>
          </a:p>
        </p:txBody>
      </p:sp>
      <p:pic>
        <p:nvPicPr>
          <p:cNvPr id="6" name="Picture 5">
            <a:extLst>
              <a:ext uri="{FF2B5EF4-FFF2-40B4-BE49-F238E27FC236}">
                <a16:creationId xmlns:a16="http://schemas.microsoft.com/office/drawing/2014/main" id="{EABB8BB6-FF6E-6DB9-E8CD-968F761E3ABB}"/>
              </a:ext>
            </a:extLst>
          </p:cNvPr>
          <p:cNvPicPr>
            <a:picLocks noChangeAspect="1"/>
          </p:cNvPicPr>
          <p:nvPr/>
        </p:nvPicPr>
        <p:blipFill>
          <a:blip r:embed="rId4"/>
          <a:stretch>
            <a:fillRect/>
          </a:stretch>
        </p:blipFill>
        <p:spPr>
          <a:xfrm>
            <a:off x="823751" y="1348916"/>
            <a:ext cx="5137082" cy="3016268"/>
          </a:xfrm>
          <a:prstGeom prst="rect">
            <a:avLst/>
          </a:prstGeom>
        </p:spPr>
      </p:pic>
      <p:pic>
        <p:nvPicPr>
          <p:cNvPr id="8" name="Picture 7">
            <a:extLst>
              <a:ext uri="{FF2B5EF4-FFF2-40B4-BE49-F238E27FC236}">
                <a16:creationId xmlns:a16="http://schemas.microsoft.com/office/drawing/2014/main" id="{72235FA7-CF7F-97BE-D1EC-DA1F0DF30C5B}"/>
              </a:ext>
            </a:extLst>
          </p:cNvPr>
          <p:cNvPicPr>
            <a:picLocks noChangeAspect="1"/>
          </p:cNvPicPr>
          <p:nvPr/>
        </p:nvPicPr>
        <p:blipFill>
          <a:blip r:embed="rId5"/>
          <a:stretch>
            <a:fillRect/>
          </a:stretch>
        </p:blipFill>
        <p:spPr>
          <a:xfrm>
            <a:off x="6576737" y="1366165"/>
            <a:ext cx="5348092" cy="2062835"/>
          </a:xfrm>
          <a:prstGeom prst="rect">
            <a:avLst/>
          </a:prstGeom>
        </p:spPr>
      </p:pic>
      <p:sp>
        <p:nvSpPr>
          <p:cNvPr id="9" name="Title 4">
            <a:extLst>
              <a:ext uri="{FF2B5EF4-FFF2-40B4-BE49-F238E27FC236}">
                <a16:creationId xmlns:a16="http://schemas.microsoft.com/office/drawing/2014/main" id="{7539ACBB-4778-8EC3-D1A1-7507FF541A77}"/>
              </a:ext>
            </a:extLst>
          </p:cNvPr>
          <p:cNvSpPr txBox="1">
            <a:spLocks/>
          </p:cNvSpPr>
          <p:nvPr/>
        </p:nvSpPr>
        <p:spPr>
          <a:xfrm>
            <a:off x="6459286" y="478872"/>
            <a:ext cx="5465543" cy="726825"/>
          </a:xfrm>
          <a:prstGeom prst="rect">
            <a:avLst/>
          </a:prstGeom>
          <a:solidFill>
            <a:schemeClr val="tx2"/>
          </a:solidFill>
        </p:spPr>
        <p:txBody>
          <a:bodyPr vert="horz" lIns="91440" tIns="45720" rIns="91440" bIns="45720" rtlCol="0" anchor="ctr">
            <a:normAutofit fontScale="90000"/>
          </a:bodyPr>
          <a:lstStyle>
            <a:lvl1pPr algn="ctr">
              <a:spcBef>
                <a:spcPct val="0"/>
              </a:spcBef>
              <a:buNone/>
              <a:defRPr sz="2800" b="1">
                <a:solidFill>
                  <a:schemeClr val="bg1"/>
                </a:solidFill>
                <a:latin typeface="+mj-lt"/>
                <a:ea typeface="+mj-ea"/>
                <a:cs typeface="+mj-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Regional Pricing and </a:t>
            </a:r>
            <a:r>
              <a:rPr lang="en-US"/>
              <a:t>Demand Ranking</a:t>
            </a:r>
            <a:endParaRPr lang="en-US" dirty="0"/>
          </a:p>
        </p:txBody>
      </p:sp>
      <p:sp>
        <p:nvSpPr>
          <p:cNvPr id="11" name="Text Placeholder 3">
            <a:extLst>
              <a:ext uri="{FF2B5EF4-FFF2-40B4-BE49-F238E27FC236}">
                <a16:creationId xmlns:a16="http://schemas.microsoft.com/office/drawing/2014/main" id="{5F300512-AFBD-A5F2-B01F-1E4C9B5212F1}"/>
              </a:ext>
            </a:extLst>
          </p:cNvPr>
          <p:cNvSpPr txBox="1">
            <a:spLocks/>
          </p:cNvSpPr>
          <p:nvPr/>
        </p:nvSpPr>
        <p:spPr>
          <a:xfrm>
            <a:off x="6484377" y="4502349"/>
            <a:ext cx="5348091" cy="176128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buFont typeface="Arial"/>
              <a:buNone/>
              <a:defRPr sz="1400" kern="1200">
                <a:solidFill>
                  <a:schemeClr val="tx1"/>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tx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pPr marL="0" lvl="1" defTabSz="914400">
              <a:lnSpc>
                <a:spcPct val="90000"/>
              </a:lnSpc>
            </a:pPr>
            <a:r>
              <a:rPr lang="en-US" sz="2800" dirty="0"/>
              <a:t>Ranks regions by average price per sqm and transaction volume to highlight pricing and demand differences</a:t>
            </a:r>
            <a:endParaRPr lang="en-US" sz="1600" dirty="0"/>
          </a:p>
        </p:txBody>
      </p:sp>
    </p:spTree>
    <p:extLst>
      <p:ext uri="{BB962C8B-B14F-4D97-AF65-F5344CB8AC3E}">
        <p14:creationId xmlns:p14="http://schemas.microsoft.com/office/powerpoint/2010/main" val="105851248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5ED9-2410-20F2-1B78-5EC74D7D4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17179-F2C5-2722-0667-1279FA177B23}"/>
              </a:ext>
            </a:extLst>
          </p:cNvPr>
          <p:cNvSpPr>
            <a:spLocks noGrp="1"/>
          </p:cNvSpPr>
          <p:nvPr>
            <p:ph type="ctrTitle"/>
          </p:nvPr>
        </p:nvSpPr>
        <p:spPr>
          <a:xfrm>
            <a:off x="914400" y="2060978"/>
            <a:ext cx="10363200" cy="1470025"/>
          </a:xfrm>
          <a:solidFill>
            <a:schemeClr val="tx2"/>
          </a:solidFill>
        </p:spPr>
        <p:txBody>
          <a:bodyPr/>
          <a:lstStyle/>
          <a:p>
            <a:r>
              <a:rPr lang="en-SG" b="1" dirty="0">
                <a:solidFill>
                  <a:schemeClr val="bg1"/>
                </a:solidFill>
              </a:rPr>
              <a:t>Power BI Visual Insights</a:t>
            </a:r>
            <a:endParaRPr lang="en-SG" dirty="0">
              <a:solidFill>
                <a:schemeClr val="bg1"/>
              </a:solidFill>
            </a:endParaRPr>
          </a:p>
        </p:txBody>
      </p:sp>
    </p:spTree>
    <p:extLst>
      <p:ext uri="{BB962C8B-B14F-4D97-AF65-F5344CB8AC3E}">
        <p14:creationId xmlns:p14="http://schemas.microsoft.com/office/powerpoint/2010/main" val="1141331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BA11C-452E-D666-CF74-74819A9201D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D5DB65C-47B5-85FB-C630-3783EB25809D}"/>
              </a:ext>
            </a:extLst>
          </p:cNvPr>
          <p:cNvSpPr>
            <a:spLocks noGrp="1"/>
          </p:cNvSpPr>
          <p:nvPr>
            <p:ph type="body" sz="half" idx="2"/>
          </p:nvPr>
        </p:nvSpPr>
        <p:spPr>
          <a:xfrm>
            <a:off x="256638" y="1322367"/>
            <a:ext cx="4128075" cy="4869113"/>
          </a:xfrm>
        </p:spPr>
        <p:txBody>
          <a:bodyPr>
            <a:normAutofit fontScale="77500" lnSpcReduction="20000"/>
          </a:bodyPr>
          <a:lstStyle/>
          <a:p>
            <a:pPr marL="457200" indent="-457200">
              <a:lnSpc>
                <a:spcPct val="120000"/>
              </a:lnSpc>
              <a:spcBef>
                <a:spcPts val="600"/>
              </a:spcBef>
              <a:buFont typeface="Wingdings" panose="05000000000000000000" pitchFamily="2" charset="2"/>
              <a:buChar char="q"/>
            </a:pPr>
            <a:r>
              <a:rPr lang="en-US" sz="2800" b="1" dirty="0"/>
              <a:t>Steady Price Growth: </a:t>
            </a:r>
          </a:p>
          <a:p>
            <a:r>
              <a:rPr lang="en-US" sz="2600" dirty="0"/>
              <a:t>	Median HDB prices rose steadily 	from ~$200K to over $500K</a:t>
            </a:r>
            <a:r>
              <a:rPr lang="en-US" sz="2800" dirty="0"/>
              <a:t> over 	a 23-year period.</a:t>
            </a:r>
          </a:p>
          <a:p>
            <a:pPr marL="457200" indent="-457200">
              <a:lnSpc>
                <a:spcPct val="120000"/>
              </a:lnSpc>
              <a:spcBef>
                <a:spcPts val="600"/>
              </a:spcBef>
              <a:buFont typeface="Wingdings" panose="05000000000000000000" pitchFamily="2" charset="2"/>
              <a:buChar char="q"/>
            </a:pPr>
            <a:r>
              <a:rPr lang="en-US" sz="2800" b="1" dirty="0"/>
              <a:t>Consistent Upward Trend:</a:t>
            </a:r>
            <a:r>
              <a:rPr lang="en-US" sz="2800" dirty="0"/>
              <a:t> </a:t>
            </a:r>
          </a:p>
          <a:p>
            <a:r>
              <a:rPr lang="en-US" sz="2600" dirty="0"/>
              <a:t>	The</a:t>
            </a:r>
            <a:r>
              <a:rPr lang="en-US" sz="2800" dirty="0"/>
              <a:t> </a:t>
            </a:r>
            <a:r>
              <a:rPr lang="en-US" sz="2600" dirty="0"/>
              <a:t>trend line shows a long-term 	increase despite short-term 	fluctuations.</a:t>
            </a:r>
          </a:p>
          <a:p>
            <a:pPr marL="457200" indent="-457200">
              <a:lnSpc>
                <a:spcPct val="120000"/>
              </a:lnSpc>
              <a:spcBef>
                <a:spcPts val="600"/>
              </a:spcBef>
              <a:buFont typeface="Wingdings" panose="05000000000000000000" pitchFamily="2" charset="2"/>
              <a:buChar char="q"/>
            </a:pPr>
            <a:r>
              <a:rPr lang="en-US" sz="2800" b="1" dirty="0"/>
              <a:t>Positive Market Performance:</a:t>
            </a:r>
            <a:br>
              <a:rPr lang="en-US" sz="2800" b="1" dirty="0"/>
            </a:br>
            <a:r>
              <a:rPr lang="en-US" sz="2600" dirty="0"/>
              <a:t>Average 2.54% yearly growth with over 628K transactions.</a:t>
            </a:r>
          </a:p>
          <a:p>
            <a:pPr marL="457200" indent="-457200">
              <a:lnSpc>
                <a:spcPct val="120000"/>
              </a:lnSpc>
              <a:spcBef>
                <a:spcPts val="600"/>
              </a:spcBef>
              <a:buFont typeface="Wingdings" panose="05000000000000000000" pitchFamily="2" charset="2"/>
              <a:buChar char="q"/>
            </a:pPr>
            <a:r>
              <a:rPr lang="en-US" sz="2800" b="1" dirty="0"/>
              <a:t>Location Insight: </a:t>
            </a:r>
          </a:p>
          <a:p>
            <a:r>
              <a:rPr lang="en-US" sz="2800" dirty="0"/>
              <a:t>	</a:t>
            </a:r>
            <a:r>
              <a:rPr lang="en-US" sz="2600" dirty="0"/>
              <a:t>Central and mature towns reflect 	higher prices per sqm than outer 	regions.</a:t>
            </a:r>
          </a:p>
          <a:p>
            <a:pPr marL="0" lvl="1"/>
            <a:endParaRPr lang="en-US" sz="2600" dirty="0"/>
          </a:p>
          <a:p>
            <a:endParaRPr lang="en-US" sz="2600" dirty="0"/>
          </a:p>
        </p:txBody>
      </p:sp>
      <p:sp>
        <p:nvSpPr>
          <p:cNvPr id="5" name="Title 4">
            <a:extLst>
              <a:ext uri="{FF2B5EF4-FFF2-40B4-BE49-F238E27FC236}">
                <a16:creationId xmlns:a16="http://schemas.microsoft.com/office/drawing/2014/main" id="{F80D7975-5979-663A-DA6D-7400AB42DA4D}"/>
              </a:ext>
            </a:extLst>
          </p:cNvPr>
          <p:cNvSpPr>
            <a:spLocks noGrp="1"/>
          </p:cNvSpPr>
          <p:nvPr>
            <p:ph type="title"/>
          </p:nvPr>
        </p:nvSpPr>
        <p:spPr>
          <a:xfrm>
            <a:off x="0" y="0"/>
            <a:ext cx="12192000" cy="1002082"/>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US" sz="4000" dirty="0"/>
              <a:t>HDB Sales Market Overview</a:t>
            </a:r>
            <a:endParaRPr sz="4000" dirty="0"/>
          </a:p>
        </p:txBody>
      </p:sp>
      <p:pic>
        <p:nvPicPr>
          <p:cNvPr id="3" name="Picture 2">
            <a:extLst>
              <a:ext uri="{FF2B5EF4-FFF2-40B4-BE49-F238E27FC236}">
                <a16:creationId xmlns:a16="http://schemas.microsoft.com/office/drawing/2014/main" id="{144CA7A5-1726-91A5-56CD-AA053ACDF66F}"/>
              </a:ext>
            </a:extLst>
          </p:cNvPr>
          <p:cNvPicPr>
            <a:picLocks noChangeAspect="1"/>
          </p:cNvPicPr>
          <p:nvPr/>
        </p:nvPicPr>
        <p:blipFill>
          <a:blip r:embed="rId3"/>
          <a:stretch>
            <a:fillRect/>
          </a:stretch>
        </p:blipFill>
        <p:spPr>
          <a:xfrm>
            <a:off x="4522545" y="1513684"/>
            <a:ext cx="7594771" cy="3685166"/>
          </a:xfrm>
          <a:prstGeom prst="rect">
            <a:avLst/>
          </a:prstGeom>
        </p:spPr>
      </p:pic>
    </p:spTree>
    <p:extLst>
      <p:ext uri="{BB962C8B-B14F-4D97-AF65-F5344CB8AC3E}">
        <p14:creationId xmlns:p14="http://schemas.microsoft.com/office/powerpoint/2010/main" val="360965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A611B-2A88-41B6-2593-7D841DAAF61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2FEA9C8-3CF7-5D53-EBB9-1D61BE81914A}"/>
              </a:ext>
            </a:extLst>
          </p:cNvPr>
          <p:cNvSpPr>
            <a:spLocks noGrp="1"/>
          </p:cNvSpPr>
          <p:nvPr>
            <p:ph type="body" sz="half" idx="2"/>
          </p:nvPr>
        </p:nvSpPr>
        <p:spPr>
          <a:xfrm>
            <a:off x="170372" y="1623454"/>
            <a:ext cx="5779713" cy="2902248"/>
          </a:xfrm>
        </p:spPr>
        <p:txBody>
          <a:bodyPr>
            <a:noAutofit/>
          </a:bodyPr>
          <a:lstStyle/>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2000 - 2007:  Relatively stable prices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2008 - 2013:  Strong recovery after 2008 recession</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2013 - 2015:  Prices drop due to cooling measures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2015 - 2020:  Relatively stable prices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2020 - 2023:  Prices rise after the pandemic</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2024 - 2028:  Forecast: Moderate growth</a:t>
            </a:r>
            <a:endParaRPr lang="en-US" sz="2000" dirty="0">
              <a:solidFill>
                <a:srgbClr val="3C3C3C"/>
              </a:solidFill>
            </a:endParaRPr>
          </a:p>
          <a:p>
            <a:pPr>
              <a:defRPr sz="1800">
                <a:solidFill>
                  <a:srgbClr val="3C3C3C"/>
                </a:solidFill>
              </a:defRPr>
            </a:pPr>
            <a:r>
              <a:rPr lang="en-US" sz="2400" dirty="0"/>
              <a:t>	</a:t>
            </a:r>
            <a:endParaRPr lang="en-SG" sz="2400" dirty="0"/>
          </a:p>
        </p:txBody>
      </p:sp>
      <p:sp>
        <p:nvSpPr>
          <p:cNvPr id="5" name="Title 4">
            <a:extLst>
              <a:ext uri="{FF2B5EF4-FFF2-40B4-BE49-F238E27FC236}">
                <a16:creationId xmlns:a16="http://schemas.microsoft.com/office/drawing/2014/main" id="{F1FACE4A-71A9-83AB-E02E-4C2E6435AEF3}"/>
              </a:ext>
            </a:extLst>
          </p:cNvPr>
          <p:cNvSpPr>
            <a:spLocks noGrp="1"/>
          </p:cNvSpPr>
          <p:nvPr>
            <p:ph type="title"/>
          </p:nvPr>
        </p:nvSpPr>
        <p:spPr>
          <a:xfrm>
            <a:off x="0" y="0"/>
            <a:ext cx="12192000" cy="1002082"/>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defRPr sz="2800" b="1">
                <a:solidFill>
                  <a:srgbClr val="FFFFFF"/>
                </a:solidFill>
              </a:defRPr>
            </a:pPr>
            <a:r>
              <a:rPr lang="en-US" sz="4000" dirty="0"/>
              <a:t>Long-Term Market Trends</a:t>
            </a:r>
            <a:endParaRPr sz="4000" dirty="0"/>
          </a:p>
        </p:txBody>
      </p:sp>
      <p:pic>
        <p:nvPicPr>
          <p:cNvPr id="12" name="Picture 11">
            <a:extLst>
              <a:ext uri="{FF2B5EF4-FFF2-40B4-BE49-F238E27FC236}">
                <a16:creationId xmlns:a16="http://schemas.microsoft.com/office/drawing/2014/main" id="{01AC75C0-2518-D1F0-0849-1449C4E9E26E}"/>
              </a:ext>
            </a:extLst>
          </p:cNvPr>
          <p:cNvPicPr>
            <a:picLocks noChangeAspect="1"/>
          </p:cNvPicPr>
          <p:nvPr/>
        </p:nvPicPr>
        <p:blipFill>
          <a:blip r:embed="rId3"/>
          <a:stretch>
            <a:fillRect/>
          </a:stretch>
        </p:blipFill>
        <p:spPr>
          <a:xfrm>
            <a:off x="6319736" y="1140112"/>
            <a:ext cx="5779713" cy="2154932"/>
          </a:xfrm>
          <a:prstGeom prst="rect">
            <a:avLst/>
          </a:prstGeom>
        </p:spPr>
      </p:pic>
      <p:pic>
        <p:nvPicPr>
          <p:cNvPr id="2" name="Content Placeholder 8" descr="A graph showing the growth of a stock market&#10;&#10;AI-generated content may be incorrect.">
            <a:extLst>
              <a:ext uri="{FF2B5EF4-FFF2-40B4-BE49-F238E27FC236}">
                <a16:creationId xmlns:a16="http://schemas.microsoft.com/office/drawing/2014/main" id="{C7357AFF-3731-ED70-C538-FAA7FA9201AF}"/>
              </a:ext>
            </a:extLst>
          </p:cNvPr>
          <p:cNvPicPr>
            <a:picLocks noChangeAspect="1"/>
          </p:cNvPicPr>
          <p:nvPr/>
        </p:nvPicPr>
        <p:blipFill>
          <a:blip r:embed="rId4"/>
          <a:stretch>
            <a:fillRect/>
          </a:stretch>
        </p:blipFill>
        <p:spPr>
          <a:xfrm>
            <a:off x="6553200" y="3562957"/>
            <a:ext cx="5240756" cy="2577015"/>
          </a:xfrm>
          <a:prstGeom prst="rect">
            <a:avLst/>
          </a:prstGeom>
        </p:spPr>
      </p:pic>
      <p:sp>
        <p:nvSpPr>
          <p:cNvPr id="3" name="Text Placeholder 3">
            <a:extLst>
              <a:ext uri="{FF2B5EF4-FFF2-40B4-BE49-F238E27FC236}">
                <a16:creationId xmlns:a16="http://schemas.microsoft.com/office/drawing/2014/main" id="{1DE51224-074F-7029-9059-5574FB88BE06}"/>
              </a:ext>
            </a:extLst>
          </p:cNvPr>
          <p:cNvSpPr txBox="1">
            <a:spLocks/>
          </p:cNvSpPr>
          <p:nvPr/>
        </p:nvSpPr>
        <p:spPr>
          <a:xfrm>
            <a:off x="170372" y="4851464"/>
            <a:ext cx="5779713" cy="1987220"/>
          </a:xfrm>
          <a:prstGeom prst="rect">
            <a:avLst/>
          </a:prstGeom>
        </p:spPr>
        <p:txBody>
          <a:bodyPr vert="horz" lIns="91440" tIns="45720" rIns="91440" bIns="45720" rtlCol="0">
            <a:noAutofit/>
          </a:bodyPr>
          <a:lstStyle>
            <a:lvl1pPr marL="0" indent="0" algn="l" defTabSz="457200" rtl="0" eaLnBrk="1" latinLnBrk="0" hangingPunct="1">
              <a:spcBef>
                <a:spcPct val="20000"/>
              </a:spcBef>
              <a:buFont typeface="Arial"/>
              <a:buNone/>
              <a:defRPr sz="1400" kern="1200">
                <a:solidFill>
                  <a:schemeClr val="tx1"/>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tx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2000 - 2008:  Mostly decreasing trend</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2008 - 2010:  Sharp increase after recession</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2010 - 2013:  Steep drop due to cooling measures</a:t>
            </a:r>
          </a:p>
          <a:p>
            <a:pPr marL="285750" indent="-285750">
              <a:spcBef>
                <a:spcPts val="600"/>
              </a:spcBef>
              <a:spcAft>
                <a:spcPts val="600"/>
              </a:spcAft>
              <a:buFont typeface="Wingdings" panose="05000000000000000000" pitchFamily="2" charset="2"/>
              <a:buChar char="q"/>
              <a:defRPr sz="1800">
                <a:solidFill>
                  <a:srgbClr val="3C3C3C"/>
                </a:solidFill>
              </a:defRPr>
            </a:pPr>
            <a:r>
              <a:rPr lang="en-SG" sz="2000" dirty="0">
                <a:solidFill>
                  <a:srgbClr val="3C3C3C"/>
                </a:solidFill>
              </a:rPr>
              <a:t>2015 - 2020:  Increasing trend</a:t>
            </a:r>
            <a:r>
              <a:rPr lang="en-US" sz="2400" dirty="0">
                <a:solidFill>
                  <a:srgbClr val="3C3C3C"/>
                </a:solidFill>
              </a:rPr>
              <a:t>	</a:t>
            </a:r>
            <a:endParaRPr lang="en-SG" sz="2400" dirty="0">
              <a:solidFill>
                <a:srgbClr val="3C3C3C"/>
              </a:solidFill>
            </a:endParaRPr>
          </a:p>
        </p:txBody>
      </p:sp>
      <p:sp>
        <p:nvSpPr>
          <p:cNvPr id="6" name="TextBox 5">
            <a:extLst>
              <a:ext uri="{FF2B5EF4-FFF2-40B4-BE49-F238E27FC236}">
                <a16:creationId xmlns:a16="http://schemas.microsoft.com/office/drawing/2014/main" id="{0BDDCB38-D4E2-0AB9-9D4D-0376B25F7174}"/>
              </a:ext>
            </a:extLst>
          </p:cNvPr>
          <p:cNvSpPr txBox="1"/>
          <p:nvPr/>
        </p:nvSpPr>
        <p:spPr>
          <a:xfrm>
            <a:off x="170372" y="1153213"/>
            <a:ext cx="2118167" cy="461665"/>
          </a:xfrm>
          <a:prstGeom prst="rect">
            <a:avLst/>
          </a:prstGeom>
          <a:noFill/>
        </p:spPr>
        <p:txBody>
          <a:bodyPr wrap="square" rtlCol="0">
            <a:spAutoFit/>
          </a:bodyPr>
          <a:lstStyle/>
          <a:p>
            <a:r>
              <a:rPr lang="en-SG" sz="2400" b="1" dirty="0"/>
              <a:t>Price Trend</a:t>
            </a:r>
          </a:p>
        </p:txBody>
      </p:sp>
      <p:sp>
        <p:nvSpPr>
          <p:cNvPr id="7" name="TextBox 6">
            <a:extLst>
              <a:ext uri="{FF2B5EF4-FFF2-40B4-BE49-F238E27FC236}">
                <a16:creationId xmlns:a16="http://schemas.microsoft.com/office/drawing/2014/main" id="{0A7F4774-5855-B996-33B5-81D77159AE8D}"/>
              </a:ext>
            </a:extLst>
          </p:cNvPr>
          <p:cNvSpPr txBox="1"/>
          <p:nvPr/>
        </p:nvSpPr>
        <p:spPr>
          <a:xfrm>
            <a:off x="170371" y="4389799"/>
            <a:ext cx="2943219" cy="461665"/>
          </a:xfrm>
          <a:prstGeom prst="rect">
            <a:avLst/>
          </a:prstGeom>
          <a:noFill/>
        </p:spPr>
        <p:txBody>
          <a:bodyPr wrap="square" rtlCol="0">
            <a:spAutoFit/>
          </a:bodyPr>
          <a:lstStyle/>
          <a:p>
            <a:r>
              <a:rPr lang="en-SG" sz="2400" b="1" dirty="0"/>
              <a:t>Transaction Trend</a:t>
            </a:r>
          </a:p>
        </p:txBody>
      </p:sp>
    </p:spTree>
    <p:extLst>
      <p:ext uri="{BB962C8B-B14F-4D97-AF65-F5344CB8AC3E}">
        <p14:creationId xmlns:p14="http://schemas.microsoft.com/office/powerpoint/2010/main" val="1682741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B4C7-4E34-E388-69B3-62D5B9187A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7BB1AA-2D36-FD10-0556-C2ADCC6F5E1C}"/>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Regional</a:t>
            </a:r>
            <a:r>
              <a:rPr sz="2800" dirty="0"/>
              <a:t>-Level Insights</a:t>
            </a:r>
          </a:p>
        </p:txBody>
      </p:sp>
      <p:sp>
        <p:nvSpPr>
          <p:cNvPr id="3" name="TextBox 2">
            <a:extLst>
              <a:ext uri="{FF2B5EF4-FFF2-40B4-BE49-F238E27FC236}">
                <a16:creationId xmlns:a16="http://schemas.microsoft.com/office/drawing/2014/main" id="{0753829D-F6BB-A5F4-79A5-349E59F49C70}"/>
              </a:ext>
            </a:extLst>
          </p:cNvPr>
          <p:cNvSpPr txBox="1"/>
          <p:nvPr/>
        </p:nvSpPr>
        <p:spPr>
          <a:xfrm>
            <a:off x="351966" y="1335276"/>
            <a:ext cx="5400652" cy="4832092"/>
          </a:xfrm>
          <a:prstGeom prst="rect">
            <a:avLst/>
          </a:prstGeom>
          <a:noFill/>
        </p:spPr>
        <p:txBody>
          <a:bodyPr wrap="square">
            <a:spAutoFit/>
          </a:bodyPr>
          <a:lstStyle/>
          <a:p>
            <a:pPr>
              <a:defRPr sz="1800">
                <a:solidFill>
                  <a:srgbClr val="3C3C3C"/>
                </a:solidFill>
              </a:defRPr>
            </a:pPr>
            <a:r>
              <a:rPr lang="en-US" sz="2800" dirty="0"/>
              <a:t>•	</a:t>
            </a:r>
            <a:r>
              <a:rPr lang="en-US" sz="2800" dirty="0">
                <a:solidFill>
                  <a:srgbClr val="3C3C3C"/>
                </a:solidFill>
              </a:rPr>
              <a:t>The Central region has 	significantly higher prices, while 	</a:t>
            </a:r>
            <a:r>
              <a:rPr lang="en-SG" sz="2800" dirty="0">
                <a:solidFill>
                  <a:srgbClr val="3C3C3C"/>
                </a:solidFill>
              </a:rPr>
              <a:t>Non-Central regions record 	higher transaction volume.</a:t>
            </a:r>
            <a:r>
              <a:rPr lang="en-US" sz="2800" dirty="0">
                <a:solidFill>
                  <a:srgbClr val="3C3C3C"/>
                </a:solidFill>
              </a:rPr>
              <a:t> 	North region records the 	lowest 	prices</a:t>
            </a:r>
          </a:p>
          <a:p>
            <a:pPr>
              <a:defRPr sz="1800">
                <a:solidFill>
                  <a:srgbClr val="3C3C3C"/>
                </a:solidFill>
              </a:defRPr>
            </a:pPr>
            <a:br>
              <a:rPr lang="en-US" sz="2800" dirty="0">
                <a:solidFill>
                  <a:srgbClr val="3C3C3C"/>
                </a:solidFill>
              </a:rPr>
            </a:br>
            <a:r>
              <a:rPr lang="en-US" sz="2800" dirty="0"/>
              <a:t>•	</a:t>
            </a:r>
            <a:r>
              <a:rPr lang="en-US" sz="2800" dirty="0">
                <a:solidFill>
                  <a:srgbClr val="3C3C3C"/>
                </a:solidFill>
              </a:rPr>
              <a:t>Higher prices but lower 	transaction volume in Central 	region compared to Non-Central 	regions</a:t>
            </a:r>
            <a:r>
              <a:rPr lang="en-US" sz="2800" dirty="0"/>
              <a:t>.</a:t>
            </a:r>
            <a:endParaRPr sz="2800" dirty="0">
              <a:solidFill>
                <a:srgbClr val="3C3C3C"/>
              </a:solidFill>
            </a:endParaRPr>
          </a:p>
        </p:txBody>
      </p:sp>
      <p:pic>
        <p:nvPicPr>
          <p:cNvPr id="9" name="Picture 8">
            <a:extLst>
              <a:ext uri="{FF2B5EF4-FFF2-40B4-BE49-F238E27FC236}">
                <a16:creationId xmlns:a16="http://schemas.microsoft.com/office/drawing/2014/main" id="{0CDA486E-6506-EDEE-F3C2-A1F8C1B20C7F}"/>
              </a:ext>
            </a:extLst>
          </p:cNvPr>
          <p:cNvPicPr>
            <a:picLocks noChangeAspect="1"/>
          </p:cNvPicPr>
          <p:nvPr/>
        </p:nvPicPr>
        <p:blipFill>
          <a:blip r:embed="rId3"/>
          <a:stretch>
            <a:fillRect/>
          </a:stretch>
        </p:blipFill>
        <p:spPr>
          <a:xfrm>
            <a:off x="6803464" y="3788229"/>
            <a:ext cx="5400000" cy="3058106"/>
          </a:xfrm>
          <a:prstGeom prst="rect">
            <a:avLst/>
          </a:prstGeom>
        </p:spPr>
      </p:pic>
      <p:pic>
        <p:nvPicPr>
          <p:cNvPr id="6" name="Picture 5">
            <a:extLst>
              <a:ext uri="{FF2B5EF4-FFF2-40B4-BE49-F238E27FC236}">
                <a16:creationId xmlns:a16="http://schemas.microsoft.com/office/drawing/2014/main" id="{55663BFB-D4CA-BBCC-F3DF-26672EBA3F80}"/>
              </a:ext>
            </a:extLst>
          </p:cNvPr>
          <p:cNvPicPr>
            <a:picLocks noChangeAspect="1"/>
          </p:cNvPicPr>
          <p:nvPr/>
        </p:nvPicPr>
        <p:blipFill>
          <a:blip r:embed="rId4"/>
          <a:stretch>
            <a:fillRect/>
          </a:stretch>
        </p:blipFill>
        <p:spPr>
          <a:xfrm>
            <a:off x="6760379" y="914400"/>
            <a:ext cx="5431621" cy="2873829"/>
          </a:xfrm>
          <a:prstGeom prst="rect">
            <a:avLst/>
          </a:prstGeom>
        </p:spPr>
      </p:pic>
    </p:spTree>
    <p:extLst>
      <p:ext uri="{BB962C8B-B14F-4D97-AF65-F5344CB8AC3E}">
        <p14:creationId xmlns:p14="http://schemas.microsoft.com/office/powerpoint/2010/main" val="3447489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14946-BB73-D9BA-7428-B5F04A132A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2B7E98-ACB1-46F1-57E5-FA4C9C1CDED4}"/>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a:t>
            </a:r>
            <a:r>
              <a:rPr sz="2800" dirty="0"/>
              <a:t>-Level Insights</a:t>
            </a:r>
          </a:p>
        </p:txBody>
      </p:sp>
      <p:sp>
        <p:nvSpPr>
          <p:cNvPr id="3" name="TextBox 2">
            <a:extLst>
              <a:ext uri="{FF2B5EF4-FFF2-40B4-BE49-F238E27FC236}">
                <a16:creationId xmlns:a16="http://schemas.microsoft.com/office/drawing/2014/main" id="{C3A68268-D311-66D3-00FD-EC7E7BB4FBFF}"/>
              </a:ext>
            </a:extLst>
          </p:cNvPr>
          <p:cNvSpPr txBox="1"/>
          <p:nvPr/>
        </p:nvSpPr>
        <p:spPr>
          <a:xfrm>
            <a:off x="351966" y="1335276"/>
            <a:ext cx="5400652" cy="3970318"/>
          </a:xfrm>
          <a:prstGeom prst="rect">
            <a:avLst/>
          </a:prstGeom>
          <a:noFill/>
        </p:spPr>
        <p:txBody>
          <a:bodyPr wrap="square">
            <a:spAutoFit/>
          </a:bodyPr>
          <a:lstStyle/>
          <a:p>
            <a:pPr>
              <a:defRPr sz="1800">
                <a:solidFill>
                  <a:srgbClr val="3C3C3C"/>
                </a:solidFill>
              </a:defRPr>
            </a:pPr>
            <a:r>
              <a:rPr lang="en-US" sz="2800" dirty="0"/>
              <a:t>•	Towns in the central region such 	as Central Area and Queenstown 	lead in terms of average price 	per sqm</a:t>
            </a:r>
          </a:p>
          <a:p>
            <a:pPr>
              <a:defRPr sz="1800">
                <a:solidFill>
                  <a:srgbClr val="3C3C3C"/>
                </a:solidFill>
              </a:defRPr>
            </a:pPr>
            <a:br>
              <a:rPr lang="en-US" sz="2800" dirty="0"/>
            </a:br>
            <a:r>
              <a:rPr lang="en-US" sz="2800" dirty="0"/>
              <a:t>•	</a:t>
            </a:r>
            <a:r>
              <a:rPr lang="en-US" sz="2800" dirty="0">
                <a:solidFill>
                  <a:srgbClr val="3C3C3C"/>
                </a:solidFill>
              </a:rPr>
              <a:t>Relatively, towns such as 	Woodlands and Jurong West 	record the highest total 	transactions</a:t>
            </a:r>
            <a:endParaRPr sz="2800" dirty="0">
              <a:solidFill>
                <a:srgbClr val="3C3C3C"/>
              </a:solidFill>
            </a:endParaRPr>
          </a:p>
        </p:txBody>
      </p:sp>
      <p:pic>
        <p:nvPicPr>
          <p:cNvPr id="7" name="Picture 6">
            <a:extLst>
              <a:ext uri="{FF2B5EF4-FFF2-40B4-BE49-F238E27FC236}">
                <a16:creationId xmlns:a16="http://schemas.microsoft.com/office/drawing/2014/main" id="{51862478-BEBC-465B-03DE-E7F5058D41CA}"/>
              </a:ext>
            </a:extLst>
          </p:cNvPr>
          <p:cNvPicPr>
            <a:picLocks noChangeAspect="1"/>
          </p:cNvPicPr>
          <p:nvPr/>
        </p:nvPicPr>
        <p:blipFill>
          <a:blip r:embed="rId3"/>
          <a:stretch>
            <a:fillRect/>
          </a:stretch>
        </p:blipFill>
        <p:spPr>
          <a:xfrm>
            <a:off x="6574421" y="3769795"/>
            <a:ext cx="5617579" cy="3001395"/>
          </a:xfrm>
          <a:prstGeom prst="rect">
            <a:avLst/>
          </a:prstGeom>
        </p:spPr>
      </p:pic>
      <p:pic>
        <p:nvPicPr>
          <p:cNvPr id="10" name="Picture 9">
            <a:extLst>
              <a:ext uri="{FF2B5EF4-FFF2-40B4-BE49-F238E27FC236}">
                <a16:creationId xmlns:a16="http://schemas.microsoft.com/office/drawing/2014/main" id="{D0F430E0-146F-DBA6-0D43-DC654D075EB8}"/>
              </a:ext>
            </a:extLst>
          </p:cNvPr>
          <p:cNvPicPr>
            <a:picLocks noChangeAspect="1"/>
          </p:cNvPicPr>
          <p:nvPr/>
        </p:nvPicPr>
        <p:blipFill>
          <a:blip r:embed="rId4"/>
          <a:stretch>
            <a:fillRect/>
          </a:stretch>
        </p:blipFill>
        <p:spPr>
          <a:xfrm>
            <a:off x="6551389" y="914401"/>
            <a:ext cx="5640612" cy="2855394"/>
          </a:xfrm>
          <a:prstGeom prst="rect">
            <a:avLst/>
          </a:prstGeom>
        </p:spPr>
      </p:pic>
    </p:spTree>
    <p:extLst>
      <p:ext uri="{BB962C8B-B14F-4D97-AF65-F5344CB8AC3E}">
        <p14:creationId xmlns:p14="http://schemas.microsoft.com/office/powerpoint/2010/main" val="601482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73FC-A64F-5B9F-C152-74EC69CCC29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DD5F60-15F0-1365-4E34-DEE39F137ECF}"/>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 Comparison</a:t>
            </a:r>
            <a:endParaRPr sz="2800" dirty="0"/>
          </a:p>
        </p:txBody>
      </p:sp>
      <p:sp>
        <p:nvSpPr>
          <p:cNvPr id="3" name="TextBox 2">
            <a:extLst>
              <a:ext uri="{FF2B5EF4-FFF2-40B4-BE49-F238E27FC236}">
                <a16:creationId xmlns:a16="http://schemas.microsoft.com/office/drawing/2014/main" id="{8D413369-89D0-FF22-4BA8-FE34E26B8BEA}"/>
              </a:ext>
            </a:extLst>
          </p:cNvPr>
          <p:cNvSpPr txBox="1"/>
          <p:nvPr/>
        </p:nvSpPr>
        <p:spPr>
          <a:xfrm>
            <a:off x="351966" y="1335276"/>
            <a:ext cx="4758654" cy="4785926"/>
          </a:xfrm>
          <a:prstGeom prst="rect">
            <a:avLst/>
          </a:prstGeom>
          <a:noFill/>
        </p:spPr>
        <p:txBody>
          <a:bodyPr wrap="square">
            <a:spAutoFit/>
          </a:bodyPr>
          <a:lstStyle/>
          <a:p>
            <a:pPr>
              <a:spcAft>
                <a:spcPts val="600"/>
              </a:spcAft>
              <a:defRPr sz="1800">
                <a:solidFill>
                  <a:srgbClr val="3C3C3C"/>
                </a:solidFill>
              </a:defRPr>
            </a:pPr>
            <a:r>
              <a:rPr lang="en-US" sz="2800" dirty="0"/>
              <a:t>• 	</a:t>
            </a:r>
            <a:r>
              <a:rPr lang="en-US" dirty="0">
                <a:solidFill>
                  <a:srgbClr val="3C3C3C"/>
                </a:solidFill>
              </a:rPr>
              <a:t>Added the ability to do side-by-side 	comparison of two towns</a:t>
            </a:r>
            <a:r>
              <a:rPr lang="en-US" dirty="0"/>
              <a:t> allowing users to 	compare trends across multiple metrics.</a:t>
            </a:r>
            <a:br>
              <a:rPr lang="en-US" sz="2800" dirty="0"/>
            </a:br>
            <a:r>
              <a:rPr lang="en-US" sz="2800" dirty="0"/>
              <a:t>•	</a:t>
            </a:r>
            <a:r>
              <a:rPr lang="en-US" dirty="0">
                <a:solidFill>
                  <a:srgbClr val="3C3C3C"/>
                </a:solidFill>
              </a:rPr>
              <a:t>Case Study (Bishan vs. Bukit Batok): </a:t>
            </a:r>
          </a:p>
          <a:p>
            <a:pPr marL="809625" indent="-184150">
              <a:spcAft>
                <a:spcPts val="600"/>
              </a:spcAft>
              <a:buFont typeface="Courier New" panose="02070309020205020404" pitchFamily="49" charset="0"/>
              <a:buChar char="o"/>
              <a:defRPr sz="1800">
                <a:solidFill>
                  <a:srgbClr val="3C3C3C"/>
                </a:solidFill>
              </a:defRPr>
            </a:pPr>
            <a:r>
              <a:rPr lang="en-US" dirty="0">
                <a:solidFill>
                  <a:srgbClr val="3C3C3C"/>
                </a:solidFill>
              </a:rPr>
              <a:t>	In 2023 Bishan shows higher resale 	prices </a:t>
            </a:r>
            <a:r>
              <a:rPr lang="en-US" dirty="0"/>
              <a:t>overall compared to Bukit 	Batok due to its central location and 	mature-town demand</a:t>
            </a:r>
          </a:p>
          <a:p>
            <a:pPr marL="890588" lvl="1" indent="-265113">
              <a:spcAft>
                <a:spcPts val="600"/>
              </a:spcAft>
              <a:buFont typeface="Courier New" panose="02070309020205020404" pitchFamily="49" charset="0"/>
              <a:buChar char="o"/>
              <a:defRPr sz="1800">
                <a:solidFill>
                  <a:srgbClr val="3C3C3C"/>
                </a:solidFill>
              </a:defRPr>
            </a:pPr>
            <a:r>
              <a:rPr lang="en-US" dirty="0"/>
              <a:t>Bukit Batok typically has more resale transactions because of a larger supply of flats</a:t>
            </a:r>
          </a:p>
          <a:p>
            <a:pPr marL="890588" indent="-265113">
              <a:buFont typeface="Courier New" panose="02070309020205020404" pitchFamily="49" charset="0"/>
              <a:buChar char="o"/>
              <a:defRPr sz="1800">
                <a:solidFill>
                  <a:srgbClr val="3C3C3C"/>
                </a:solidFill>
              </a:defRPr>
            </a:pPr>
            <a:r>
              <a:rPr lang="en-US" dirty="0"/>
              <a:t>Price growth in both towns is positive, but Bukit Batok has higher price growth compared to Bishan</a:t>
            </a:r>
          </a:p>
          <a:p>
            <a:pPr>
              <a:defRPr sz="1800">
                <a:solidFill>
                  <a:srgbClr val="3C3C3C"/>
                </a:solidFill>
              </a:defRPr>
            </a:pPr>
            <a:endParaRPr dirty="0"/>
          </a:p>
        </p:txBody>
      </p:sp>
      <p:pic>
        <p:nvPicPr>
          <p:cNvPr id="5" name="Picture 4">
            <a:extLst>
              <a:ext uri="{FF2B5EF4-FFF2-40B4-BE49-F238E27FC236}">
                <a16:creationId xmlns:a16="http://schemas.microsoft.com/office/drawing/2014/main" id="{124EC001-0125-AEE7-6A52-FEA88F989404}"/>
              </a:ext>
            </a:extLst>
          </p:cNvPr>
          <p:cNvPicPr>
            <a:picLocks noChangeAspect="1"/>
          </p:cNvPicPr>
          <p:nvPr/>
        </p:nvPicPr>
        <p:blipFill>
          <a:blip r:embed="rId3"/>
          <a:stretch>
            <a:fillRect/>
          </a:stretch>
        </p:blipFill>
        <p:spPr>
          <a:xfrm>
            <a:off x="5344160" y="1097278"/>
            <a:ext cx="6521989" cy="2519681"/>
          </a:xfrm>
          <a:prstGeom prst="rect">
            <a:avLst/>
          </a:prstGeom>
        </p:spPr>
      </p:pic>
      <p:pic>
        <p:nvPicPr>
          <p:cNvPr id="7" name="Picture 6">
            <a:extLst>
              <a:ext uri="{FF2B5EF4-FFF2-40B4-BE49-F238E27FC236}">
                <a16:creationId xmlns:a16="http://schemas.microsoft.com/office/drawing/2014/main" id="{7EABB79B-1A5B-BB5F-3CFA-63512B5DA7D9}"/>
              </a:ext>
            </a:extLst>
          </p:cNvPr>
          <p:cNvPicPr>
            <a:picLocks noChangeAspect="1"/>
          </p:cNvPicPr>
          <p:nvPr/>
        </p:nvPicPr>
        <p:blipFill>
          <a:blip r:embed="rId4"/>
          <a:stretch>
            <a:fillRect/>
          </a:stretch>
        </p:blipFill>
        <p:spPr>
          <a:xfrm>
            <a:off x="5344160" y="3938784"/>
            <a:ext cx="6593016" cy="2614415"/>
          </a:xfrm>
          <a:prstGeom prst="rect">
            <a:avLst/>
          </a:prstGeom>
        </p:spPr>
      </p:pic>
    </p:spTree>
    <p:extLst>
      <p:ext uri="{BB962C8B-B14F-4D97-AF65-F5344CB8AC3E}">
        <p14:creationId xmlns:p14="http://schemas.microsoft.com/office/powerpoint/2010/main" val="4181232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65A2-A579-BA07-36B0-E4A71FF1E7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E2560D-0D72-0E0D-3997-6354BA66F8E2}"/>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a:t>Town Clusters</a:t>
            </a:r>
            <a:endParaRPr lang="en-SG" sz="2800" dirty="0"/>
          </a:p>
        </p:txBody>
      </p:sp>
      <p:sp>
        <p:nvSpPr>
          <p:cNvPr id="3" name="TextBox 2">
            <a:extLst>
              <a:ext uri="{FF2B5EF4-FFF2-40B4-BE49-F238E27FC236}">
                <a16:creationId xmlns:a16="http://schemas.microsoft.com/office/drawing/2014/main" id="{16EDE0CF-C7B0-7BC6-0EA6-210EA67CE6D2}"/>
              </a:ext>
            </a:extLst>
          </p:cNvPr>
          <p:cNvSpPr txBox="1"/>
          <p:nvPr/>
        </p:nvSpPr>
        <p:spPr>
          <a:xfrm>
            <a:off x="196770" y="914400"/>
            <a:ext cx="3917804" cy="5509200"/>
          </a:xfrm>
          <a:prstGeom prst="rect">
            <a:avLst/>
          </a:prstGeom>
          <a:noFill/>
        </p:spPr>
        <p:txBody>
          <a:bodyPr wrap="square">
            <a:spAutoFit/>
          </a:bodyPr>
          <a:lstStyle/>
          <a:p>
            <a:endParaRPr lang="en-SG" sz="2400" dirty="0"/>
          </a:p>
          <a:p>
            <a:pPr>
              <a:defRPr sz="1800">
                <a:solidFill>
                  <a:srgbClr val="3C3C3C"/>
                </a:solidFill>
              </a:defRPr>
            </a:pPr>
            <a:r>
              <a:rPr lang="en-SG" sz="2400" dirty="0"/>
              <a:t>• </a:t>
            </a:r>
            <a:r>
              <a:rPr lang="en-SG" sz="2400" b="1" dirty="0"/>
              <a:t>Premium Value: </a:t>
            </a:r>
          </a:p>
          <a:p>
            <a:pPr>
              <a:defRPr sz="1800">
                <a:solidFill>
                  <a:srgbClr val="3C3C3C"/>
                </a:solidFill>
              </a:defRPr>
            </a:pPr>
            <a:r>
              <a:rPr lang="en-SG" sz="2000" dirty="0"/>
              <a:t>	Sengkang</a:t>
            </a:r>
          </a:p>
          <a:p>
            <a:pPr>
              <a:defRPr sz="1800">
                <a:solidFill>
                  <a:srgbClr val="3C3C3C"/>
                </a:solidFill>
              </a:defRPr>
            </a:pPr>
            <a:endParaRPr lang="en-SG" dirty="0"/>
          </a:p>
          <a:p>
            <a:pPr>
              <a:defRPr sz="1800">
                <a:solidFill>
                  <a:srgbClr val="3C3C3C"/>
                </a:solidFill>
              </a:defRPr>
            </a:pPr>
            <a:r>
              <a:rPr lang="en-SG" sz="2400" dirty="0"/>
              <a:t>• </a:t>
            </a:r>
            <a:r>
              <a:rPr lang="en-SG" sz="2400" b="1" dirty="0"/>
              <a:t>High Demand &amp; Affordable:</a:t>
            </a:r>
            <a:r>
              <a:rPr lang="en-SG" sz="2400" dirty="0"/>
              <a:t> </a:t>
            </a:r>
          </a:p>
          <a:p>
            <a:pPr>
              <a:defRPr sz="1800">
                <a:solidFill>
                  <a:srgbClr val="3C3C3C"/>
                </a:solidFill>
              </a:defRPr>
            </a:pPr>
            <a:r>
              <a:rPr lang="en-SG" sz="2000" dirty="0"/>
              <a:t>	Tampines, Woodlands, Yishun, 	Jurong West, Bukit Batok</a:t>
            </a:r>
          </a:p>
          <a:p>
            <a:pPr>
              <a:defRPr sz="1800">
                <a:solidFill>
                  <a:srgbClr val="3C3C3C"/>
                </a:solidFill>
              </a:defRPr>
            </a:pPr>
            <a:endParaRPr lang="en-SG" dirty="0"/>
          </a:p>
          <a:p>
            <a:pPr>
              <a:defRPr sz="1800">
                <a:solidFill>
                  <a:srgbClr val="3C3C3C"/>
                </a:solidFill>
              </a:defRPr>
            </a:pPr>
            <a:r>
              <a:rPr lang="en-SG" sz="2400" dirty="0"/>
              <a:t>•</a:t>
            </a:r>
            <a:r>
              <a:rPr lang="en-SG" sz="2400" b="1" dirty="0"/>
              <a:t>Low Demand &amp; Affordable:</a:t>
            </a:r>
            <a:r>
              <a:rPr lang="en-SG" sz="2400" dirty="0"/>
              <a:t> </a:t>
            </a:r>
          </a:p>
          <a:p>
            <a:pPr>
              <a:defRPr sz="1800">
                <a:solidFill>
                  <a:srgbClr val="3C3C3C"/>
                </a:solidFill>
              </a:defRPr>
            </a:pPr>
            <a:r>
              <a:rPr lang="en-SG" sz="2400" dirty="0"/>
              <a:t>	</a:t>
            </a:r>
            <a:r>
              <a:rPr lang="en-SG" sz="2000" dirty="0"/>
              <a:t>Geylang, Serangoon, Pasir Ris	Bukit Panjang, Jurong East</a:t>
            </a:r>
          </a:p>
          <a:p>
            <a:pPr>
              <a:defRPr sz="1800">
                <a:solidFill>
                  <a:srgbClr val="3C3C3C"/>
                </a:solidFill>
              </a:defRPr>
            </a:pPr>
            <a:r>
              <a:rPr lang="en-SG" sz="2800" dirty="0"/>
              <a:t>•</a:t>
            </a:r>
            <a:r>
              <a:rPr lang="en-SG" sz="2400" b="1" dirty="0">
                <a:solidFill>
                  <a:srgbClr val="3C3C3C"/>
                </a:solidFill>
              </a:rPr>
              <a:t>Low Demand &amp; Premium: </a:t>
            </a:r>
          </a:p>
          <a:p>
            <a:pPr>
              <a:defRPr sz="1800">
                <a:solidFill>
                  <a:srgbClr val="3C3C3C"/>
                </a:solidFill>
              </a:defRPr>
            </a:pPr>
            <a:r>
              <a:rPr lang="en-SG" sz="2800" dirty="0"/>
              <a:t> 	</a:t>
            </a:r>
            <a:r>
              <a:rPr lang="en-SG" sz="2000" dirty="0">
                <a:solidFill>
                  <a:srgbClr val="3C3C3C"/>
                </a:solidFill>
              </a:rPr>
              <a:t>Clementi, Toa Payoh, Bukit 	Timah, Queenstown, Punggol</a:t>
            </a:r>
          </a:p>
          <a:p>
            <a:pPr>
              <a:defRPr sz="1800">
                <a:solidFill>
                  <a:srgbClr val="3C3C3C"/>
                </a:solidFill>
              </a:defRPr>
            </a:pPr>
            <a:br>
              <a:rPr lang="en-SG" sz="2000" dirty="0">
                <a:solidFill>
                  <a:srgbClr val="3C3C3C"/>
                </a:solidFill>
              </a:rPr>
            </a:br>
            <a:endParaRPr lang="en-SG" sz="2000" dirty="0">
              <a:solidFill>
                <a:srgbClr val="3C3C3C"/>
              </a:solidFill>
            </a:endParaRPr>
          </a:p>
        </p:txBody>
      </p:sp>
      <p:pic>
        <p:nvPicPr>
          <p:cNvPr id="8" name="Picture 7">
            <a:extLst>
              <a:ext uri="{FF2B5EF4-FFF2-40B4-BE49-F238E27FC236}">
                <a16:creationId xmlns:a16="http://schemas.microsoft.com/office/drawing/2014/main" id="{EF5A2B96-42A2-DF71-1014-0D14166FF226}"/>
              </a:ext>
            </a:extLst>
          </p:cNvPr>
          <p:cNvPicPr>
            <a:picLocks noChangeAspect="1"/>
          </p:cNvPicPr>
          <p:nvPr/>
        </p:nvPicPr>
        <p:blipFill>
          <a:blip r:embed="rId3"/>
          <a:stretch>
            <a:fillRect/>
          </a:stretch>
        </p:blipFill>
        <p:spPr>
          <a:xfrm>
            <a:off x="4195105" y="952439"/>
            <a:ext cx="4275405" cy="5905560"/>
          </a:xfrm>
          <a:prstGeom prst="rect">
            <a:avLst/>
          </a:prstGeom>
        </p:spPr>
      </p:pic>
      <p:pic>
        <p:nvPicPr>
          <p:cNvPr id="10" name="Picture 9">
            <a:extLst>
              <a:ext uri="{FF2B5EF4-FFF2-40B4-BE49-F238E27FC236}">
                <a16:creationId xmlns:a16="http://schemas.microsoft.com/office/drawing/2014/main" id="{0E06F29A-14B9-DC90-A923-8BC002C1C555}"/>
              </a:ext>
            </a:extLst>
          </p:cNvPr>
          <p:cNvPicPr>
            <a:picLocks noChangeAspect="1"/>
          </p:cNvPicPr>
          <p:nvPr/>
        </p:nvPicPr>
        <p:blipFill>
          <a:blip r:embed="rId4"/>
          <a:stretch>
            <a:fillRect/>
          </a:stretch>
        </p:blipFill>
        <p:spPr>
          <a:xfrm>
            <a:off x="8470510" y="952440"/>
            <a:ext cx="3721489" cy="5905560"/>
          </a:xfrm>
          <a:prstGeom prst="rect">
            <a:avLst/>
          </a:prstGeom>
        </p:spPr>
      </p:pic>
    </p:spTree>
    <p:extLst>
      <p:ext uri="{BB962C8B-B14F-4D97-AF65-F5344CB8AC3E}">
        <p14:creationId xmlns:p14="http://schemas.microsoft.com/office/powerpoint/2010/main" val="2105633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D32D7-65A8-DCFF-AA2B-7C20EA93E6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458244-72ED-086B-B67E-AA49B59F9D2C}"/>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Town Spotlight : Jurong West</a:t>
            </a:r>
            <a:endParaRPr sz="2800" dirty="0"/>
          </a:p>
        </p:txBody>
      </p:sp>
      <p:sp>
        <p:nvSpPr>
          <p:cNvPr id="3" name="TextBox 2">
            <a:extLst>
              <a:ext uri="{FF2B5EF4-FFF2-40B4-BE49-F238E27FC236}">
                <a16:creationId xmlns:a16="http://schemas.microsoft.com/office/drawing/2014/main" id="{7811E00B-8010-42AB-1C10-6CFFD6836C0A}"/>
              </a:ext>
            </a:extLst>
          </p:cNvPr>
          <p:cNvSpPr txBox="1"/>
          <p:nvPr/>
        </p:nvSpPr>
        <p:spPr>
          <a:xfrm>
            <a:off x="599361" y="1305343"/>
            <a:ext cx="4254603" cy="5170646"/>
          </a:xfrm>
          <a:prstGeom prst="rect">
            <a:avLst/>
          </a:prstGeom>
          <a:noFill/>
        </p:spPr>
        <p:txBody>
          <a:bodyPr wrap="square">
            <a:spAutoFit/>
          </a:bodyPr>
          <a:lstStyle/>
          <a:p>
            <a:pPr>
              <a:defRPr sz="1800">
                <a:solidFill>
                  <a:srgbClr val="3C3C3C"/>
                </a:solidFill>
              </a:defRPr>
            </a:pPr>
            <a:endParaRPr lang="en-SG" sz="2400" dirty="0"/>
          </a:p>
          <a:p>
            <a:pPr>
              <a:defRPr sz="1800">
                <a:solidFill>
                  <a:srgbClr val="3C3C3C"/>
                </a:solidFill>
              </a:defRPr>
            </a:pPr>
            <a:r>
              <a:rPr sz="2400" dirty="0"/>
              <a:t>•</a:t>
            </a:r>
            <a:r>
              <a:rPr lang="en-SG" sz="2400" dirty="0"/>
              <a:t> 	Jurong West’s Median Price 	is </a:t>
            </a:r>
            <a:r>
              <a:rPr lang="en-US" sz="2400" b="1" dirty="0">
                <a:solidFill>
                  <a:schemeClr val="accent2"/>
                </a:solidFill>
              </a:rPr>
              <a:t>$316K</a:t>
            </a:r>
            <a:r>
              <a:rPr lang="en-US" sz="2400" b="1" dirty="0"/>
              <a:t>. </a:t>
            </a:r>
            <a:r>
              <a:rPr lang="en-US" sz="2400" dirty="0"/>
              <a:t>It is very close to 	the overall market average 	of </a:t>
            </a:r>
            <a:r>
              <a:rPr lang="en-US" sz="2400" b="1" dirty="0">
                <a:solidFill>
                  <a:schemeClr val="accent2"/>
                </a:solidFill>
              </a:rPr>
              <a:t>$338K</a:t>
            </a:r>
            <a:r>
              <a:rPr lang="en-US" sz="2400" dirty="0"/>
              <a:t>.</a:t>
            </a:r>
            <a:endParaRPr lang="en-SG" sz="2400" b="1" dirty="0">
              <a:solidFill>
                <a:srgbClr val="3C3C3C"/>
              </a:solidFill>
            </a:endParaRPr>
          </a:p>
          <a:p>
            <a:pPr>
              <a:defRPr sz="1800">
                <a:solidFill>
                  <a:srgbClr val="3C3C3C"/>
                </a:solidFill>
              </a:defRPr>
            </a:pPr>
            <a:r>
              <a:rPr lang="en-SG" sz="2400" dirty="0"/>
              <a:t> </a:t>
            </a:r>
          </a:p>
          <a:p>
            <a:pPr>
              <a:defRPr sz="1800">
                <a:solidFill>
                  <a:srgbClr val="3C3C3C"/>
                </a:solidFill>
              </a:defRPr>
            </a:pPr>
            <a:r>
              <a:rPr lang="en-SG" sz="2400" b="1" dirty="0">
                <a:solidFill>
                  <a:srgbClr val="3C3C3C"/>
                </a:solidFill>
              </a:rPr>
              <a:t>•</a:t>
            </a:r>
            <a:r>
              <a:rPr lang="en-US" dirty="0"/>
              <a:t> 	</a:t>
            </a:r>
            <a:r>
              <a:rPr lang="en-US" sz="2400" dirty="0">
                <a:solidFill>
                  <a:srgbClr val="3C3C3C"/>
                </a:solidFill>
              </a:rPr>
              <a:t>Average Price per Sqm is 	$</a:t>
            </a:r>
            <a:r>
              <a:rPr lang="en-US" sz="2400" b="1" dirty="0">
                <a:solidFill>
                  <a:schemeClr val="accent2"/>
                </a:solidFill>
              </a:rPr>
              <a:t>3.27K</a:t>
            </a:r>
            <a:r>
              <a:rPr lang="en-US" sz="2400" dirty="0">
                <a:solidFill>
                  <a:srgbClr val="3C3C3C"/>
                </a:solidFill>
              </a:rPr>
              <a:t>, making it a more 	affordable option compared 	to mature estates.</a:t>
            </a:r>
            <a:endParaRPr lang="en-SG" sz="2400" dirty="0">
              <a:solidFill>
                <a:srgbClr val="3C3C3C"/>
              </a:solidFill>
            </a:endParaRPr>
          </a:p>
          <a:p>
            <a:pPr>
              <a:defRPr sz="1800">
                <a:solidFill>
                  <a:srgbClr val="3C3C3C"/>
                </a:solidFill>
              </a:defRPr>
            </a:pPr>
            <a:endParaRPr lang="en-SG" dirty="0"/>
          </a:p>
          <a:p>
            <a:pPr>
              <a:defRPr sz="1800">
                <a:solidFill>
                  <a:srgbClr val="3C3C3C"/>
                </a:solidFill>
              </a:defRPr>
            </a:pPr>
            <a:r>
              <a:rPr lang="en-SG" dirty="0"/>
              <a:t>•</a:t>
            </a:r>
            <a:r>
              <a:rPr lang="en-US" dirty="0"/>
              <a:t> 	</a:t>
            </a:r>
            <a:r>
              <a:rPr lang="en-US" sz="2400" dirty="0">
                <a:solidFill>
                  <a:srgbClr val="3C3C3C"/>
                </a:solidFill>
              </a:rPr>
              <a:t>Jurong West is a high-volume 	market as it has </a:t>
            </a:r>
            <a:r>
              <a:rPr lang="en-SG" sz="2400" b="1" dirty="0">
                <a:solidFill>
                  <a:schemeClr val="accent2"/>
                </a:solidFill>
              </a:rPr>
              <a:t>47K</a:t>
            </a:r>
            <a:r>
              <a:rPr lang="en-SG" sz="2400" dirty="0">
                <a:solidFill>
                  <a:srgbClr val="3C3C3C"/>
                </a:solidFill>
              </a:rPr>
              <a:t> total 	transactions</a:t>
            </a:r>
            <a:endParaRPr lang="en-US" sz="2400" dirty="0">
              <a:solidFill>
                <a:srgbClr val="3C3C3C"/>
              </a:solidFill>
            </a:endParaRPr>
          </a:p>
        </p:txBody>
      </p:sp>
      <p:pic>
        <p:nvPicPr>
          <p:cNvPr id="6" name="Picture 5">
            <a:extLst>
              <a:ext uri="{FF2B5EF4-FFF2-40B4-BE49-F238E27FC236}">
                <a16:creationId xmlns:a16="http://schemas.microsoft.com/office/drawing/2014/main" id="{E826D430-0388-7719-57B9-A8226C923ACA}"/>
              </a:ext>
            </a:extLst>
          </p:cNvPr>
          <p:cNvPicPr>
            <a:picLocks noChangeAspect="1"/>
          </p:cNvPicPr>
          <p:nvPr/>
        </p:nvPicPr>
        <p:blipFill>
          <a:blip r:embed="rId3"/>
          <a:stretch>
            <a:fillRect/>
          </a:stretch>
        </p:blipFill>
        <p:spPr>
          <a:xfrm>
            <a:off x="5143331" y="1973016"/>
            <a:ext cx="6771505" cy="3835300"/>
          </a:xfrm>
          <a:prstGeom prst="rect">
            <a:avLst/>
          </a:prstGeom>
        </p:spPr>
      </p:pic>
    </p:spTree>
    <p:extLst>
      <p:ext uri="{BB962C8B-B14F-4D97-AF65-F5344CB8AC3E}">
        <p14:creationId xmlns:p14="http://schemas.microsoft.com/office/powerpoint/2010/main" val="1895135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BCEE-8F25-EC82-01FF-AF30AF61FE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2F28E7-79D2-55D8-7A5E-31774C04D38B}"/>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2800" dirty="0"/>
              <a:t>Price Dri</a:t>
            </a:r>
            <a:r>
              <a:rPr lang="en-SG" sz="2800" dirty="0"/>
              <a:t>vers</a:t>
            </a:r>
            <a:endParaRPr sz="2800" dirty="0"/>
          </a:p>
        </p:txBody>
      </p:sp>
      <p:sp>
        <p:nvSpPr>
          <p:cNvPr id="3" name="TextBox 2">
            <a:extLst>
              <a:ext uri="{FF2B5EF4-FFF2-40B4-BE49-F238E27FC236}">
                <a16:creationId xmlns:a16="http://schemas.microsoft.com/office/drawing/2014/main" id="{1EE1D208-D5C2-A4E5-23BB-DD4E24376D48}"/>
              </a:ext>
            </a:extLst>
          </p:cNvPr>
          <p:cNvSpPr txBox="1"/>
          <p:nvPr/>
        </p:nvSpPr>
        <p:spPr>
          <a:xfrm>
            <a:off x="803753" y="1397675"/>
            <a:ext cx="4114800" cy="4678204"/>
          </a:xfrm>
          <a:prstGeom prst="rect">
            <a:avLst/>
          </a:prstGeom>
          <a:noFill/>
        </p:spPr>
        <p:txBody>
          <a:bodyPr wrap="square">
            <a:spAutoFit/>
          </a:bodyPr>
          <a:lstStyle/>
          <a:p>
            <a:endParaRPr dirty="0"/>
          </a:p>
          <a:p>
            <a:pPr>
              <a:defRPr sz="1800">
                <a:solidFill>
                  <a:srgbClr val="3C3C3C"/>
                </a:solidFill>
              </a:defRPr>
            </a:pPr>
            <a:r>
              <a:rPr sz="2800" dirty="0"/>
              <a:t>•</a:t>
            </a:r>
            <a:r>
              <a:rPr lang="en-SG" sz="2800" dirty="0"/>
              <a:t>	Flats at a higher stories 	tend to have a higher 	resale price</a:t>
            </a:r>
          </a:p>
          <a:p>
            <a:pPr>
              <a:defRPr sz="1800">
                <a:solidFill>
                  <a:srgbClr val="3C3C3C"/>
                </a:solidFill>
              </a:defRPr>
            </a:pPr>
            <a:endParaRPr lang="en-SG" sz="2800" dirty="0"/>
          </a:p>
          <a:p>
            <a:pPr>
              <a:defRPr sz="1800">
                <a:solidFill>
                  <a:srgbClr val="3C3C3C"/>
                </a:solidFill>
              </a:defRPr>
            </a:pPr>
            <a:endParaRPr lang="en-SG" sz="2800" dirty="0"/>
          </a:p>
          <a:p>
            <a:pPr>
              <a:defRPr sz="1800">
                <a:solidFill>
                  <a:srgbClr val="3C3C3C"/>
                </a:solidFill>
              </a:defRPr>
            </a:pPr>
            <a:br>
              <a:rPr sz="2800" dirty="0"/>
            </a:br>
            <a:r>
              <a:rPr sz="2800" dirty="0"/>
              <a:t>•</a:t>
            </a:r>
            <a:r>
              <a:rPr lang="en-SG" sz="2800" dirty="0"/>
              <a:t>	</a:t>
            </a:r>
            <a:r>
              <a:rPr sz="2800" dirty="0"/>
              <a:t>Newer flats </a:t>
            </a:r>
            <a:r>
              <a:rPr lang="en-SG" sz="2800" dirty="0"/>
              <a:t>tend to 	have a higher median 	price</a:t>
            </a:r>
            <a:br>
              <a:rPr sz="2800" dirty="0"/>
            </a:br>
            <a:endParaRPr sz="2800" dirty="0"/>
          </a:p>
        </p:txBody>
      </p:sp>
      <p:pic>
        <p:nvPicPr>
          <p:cNvPr id="7" name="Picture 6">
            <a:extLst>
              <a:ext uri="{FF2B5EF4-FFF2-40B4-BE49-F238E27FC236}">
                <a16:creationId xmlns:a16="http://schemas.microsoft.com/office/drawing/2014/main" id="{2C868B89-D451-E224-6466-B1D1D715CF2F}"/>
              </a:ext>
            </a:extLst>
          </p:cNvPr>
          <p:cNvPicPr>
            <a:picLocks noChangeAspect="1"/>
          </p:cNvPicPr>
          <p:nvPr/>
        </p:nvPicPr>
        <p:blipFill>
          <a:blip r:embed="rId3"/>
          <a:stretch>
            <a:fillRect/>
          </a:stretch>
        </p:blipFill>
        <p:spPr>
          <a:xfrm>
            <a:off x="5567422" y="994120"/>
            <a:ext cx="6400801" cy="5710404"/>
          </a:xfrm>
          <a:prstGeom prst="rect">
            <a:avLst/>
          </a:prstGeom>
        </p:spPr>
      </p:pic>
    </p:spTree>
    <p:extLst>
      <p:ext uri="{BB962C8B-B14F-4D97-AF65-F5344CB8AC3E}">
        <p14:creationId xmlns:p14="http://schemas.microsoft.com/office/powerpoint/2010/main" val="90267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2FE4-ED6C-9933-3621-B6504BEC38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583B98-D563-99E2-A647-0B9DA78E6889}"/>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2800" dirty="0"/>
              <a:t>Price Dri</a:t>
            </a:r>
            <a:r>
              <a:rPr lang="en-SG" sz="2800" dirty="0"/>
              <a:t>vers</a:t>
            </a:r>
            <a:endParaRPr sz="2800" dirty="0"/>
          </a:p>
        </p:txBody>
      </p:sp>
      <p:sp>
        <p:nvSpPr>
          <p:cNvPr id="3" name="TextBox 2">
            <a:extLst>
              <a:ext uri="{FF2B5EF4-FFF2-40B4-BE49-F238E27FC236}">
                <a16:creationId xmlns:a16="http://schemas.microsoft.com/office/drawing/2014/main" id="{DF5BB084-3636-5F6E-9C52-3BB7E16630E2}"/>
              </a:ext>
            </a:extLst>
          </p:cNvPr>
          <p:cNvSpPr txBox="1"/>
          <p:nvPr/>
        </p:nvSpPr>
        <p:spPr>
          <a:xfrm>
            <a:off x="126645" y="1096735"/>
            <a:ext cx="5764869" cy="5001369"/>
          </a:xfrm>
          <a:prstGeom prst="rect">
            <a:avLst/>
          </a:prstGeom>
          <a:noFill/>
        </p:spPr>
        <p:txBody>
          <a:bodyPr wrap="square">
            <a:spAutoFit/>
          </a:bodyPr>
          <a:lstStyle/>
          <a:p>
            <a:pPr>
              <a:spcAft>
                <a:spcPts val="600"/>
              </a:spcAft>
            </a:pPr>
            <a:r>
              <a:rPr lang="en-SG" sz="2000" b="1" dirty="0"/>
              <a:t>What influences the Median Price to increase?</a:t>
            </a:r>
            <a:endParaRPr sz="2000" b="1" dirty="0"/>
          </a:p>
          <a:p>
            <a:pPr>
              <a:spcAft>
                <a:spcPts val="600"/>
              </a:spcAft>
            </a:pPr>
            <a:r>
              <a:rPr sz="2000" dirty="0"/>
              <a:t>•</a:t>
            </a:r>
            <a:r>
              <a:rPr lang="en-SG" sz="2000" dirty="0"/>
              <a:t> </a:t>
            </a:r>
            <a:r>
              <a:rPr lang="en-US" b="1" dirty="0"/>
              <a:t>Storey Range</a:t>
            </a:r>
          </a:p>
          <a:p>
            <a:pPr lvl="1">
              <a:spcAft>
                <a:spcPts val="600"/>
              </a:spcAft>
            </a:pPr>
            <a:r>
              <a:rPr lang="en-US" sz="1600" dirty="0"/>
              <a:t>Higher floors are generally priced higher </a:t>
            </a:r>
          </a:p>
          <a:p>
            <a:pPr lvl="1">
              <a:spcAft>
                <a:spcPts val="600"/>
              </a:spcAft>
            </a:pPr>
            <a:r>
              <a:rPr lang="en-US" sz="1600" dirty="0"/>
              <a:t>Median prices of flats in 46-48 storeys are ~$616K higher than flats in all other floors</a:t>
            </a:r>
            <a:endParaRPr lang="en-SG" sz="2000" dirty="0"/>
          </a:p>
          <a:p>
            <a:pPr>
              <a:spcAft>
                <a:spcPts val="600"/>
              </a:spcAft>
            </a:pPr>
            <a:r>
              <a:rPr lang="en-SG" dirty="0"/>
              <a:t>• </a:t>
            </a:r>
            <a:r>
              <a:rPr lang="en-US" b="1" dirty="0"/>
              <a:t>Flat Age</a:t>
            </a:r>
          </a:p>
          <a:p>
            <a:pPr lvl="1">
              <a:spcAft>
                <a:spcPts val="600"/>
              </a:spcAft>
            </a:pPr>
            <a:r>
              <a:rPr lang="en-US" sz="1600" dirty="0"/>
              <a:t>Older flats show a gradual price decline</a:t>
            </a:r>
          </a:p>
          <a:p>
            <a:pPr lvl="1">
              <a:spcAft>
                <a:spcPts val="600"/>
              </a:spcAft>
            </a:pPr>
            <a:r>
              <a:rPr lang="en-US" sz="1600" dirty="0"/>
              <a:t>Flat Age 6 or less leads to ~$84K increase in median price</a:t>
            </a:r>
          </a:p>
          <a:p>
            <a:pPr>
              <a:spcAft>
                <a:spcPts val="600"/>
              </a:spcAft>
            </a:pPr>
            <a:r>
              <a:rPr lang="en-SG" b="1" dirty="0"/>
              <a:t>• </a:t>
            </a:r>
            <a:r>
              <a:rPr lang="en-US" b="1" dirty="0"/>
              <a:t>Floor Area</a:t>
            </a:r>
          </a:p>
          <a:p>
            <a:pPr lvl="1">
              <a:spcAft>
                <a:spcPts val="600"/>
              </a:spcAft>
            </a:pPr>
            <a:r>
              <a:rPr lang="en-US" sz="1600" dirty="0"/>
              <a:t>Strong positive link between flat size and price</a:t>
            </a:r>
          </a:p>
          <a:p>
            <a:pPr lvl="1">
              <a:spcAft>
                <a:spcPts val="600"/>
              </a:spcAft>
            </a:pPr>
            <a:r>
              <a:rPr lang="en-US" sz="1600" dirty="0"/>
              <a:t>A ~33 sqm increase in floor area leads to ~$120K increase in median price</a:t>
            </a:r>
          </a:p>
          <a:p>
            <a:pPr>
              <a:spcAft>
                <a:spcPts val="600"/>
              </a:spcAft>
            </a:pPr>
            <a:endParaRPr lang="en-US" sz="2000" b="1" dirty="0">
              <a:solidFill>
                <a:schemeClr val="tx2"/>
              </a:solidFill>
            </a:endParaRPr>
          </a:p>
          <a:p>
            <a:pPr>
              <a:spcAft>
                <a:spcPts val="600"/>
              </a:spcAft>
            </a:pPr>
            <a:r>
              <a:rPr lang="en-US" sz="2000" b="1" dirty="0">
                <a:solidFill>
                  <a:schemeClr val="tx2"/>
                </a:solidFill>
              </a:rPr>
              <a:t>Newer, larger, and higher-floor flats command higher market value.</a:t>
            </a:r>
            <a:endParaRPr lang="en-SG" sz="2000" b="1" dirty="0">
              <a:solidFill>
                <a:schemeClr val="tx2"/>
              </a:solidFill>
            </a:endParaRPr>
          </a:p>
        </p:txBody>
      </p:sp>
      <p:pic>
        <p:nvPicPr>
          <p:cNvPr id="5" name="Picture 4">
            <a:extLst>
              <a:ext uri="{FF2B5EF4-FFF2-40B4-BE49-F238E27FC236}">
                <a16:creationId xmlns:a16="http://schemas.microsoft.com/office/drawing/2014/main" id="{9441E164-1B13-64C0-97FC-20B1F0DD0A02}"/>
              </a:ext>
            </a:extLst>
          </p:cNvPr>
          <p:cNvPicPr>
            <a:picLocks noChangeAspect="1"/>
          </p:cNvPicPr>
          <p:nvPr/>
        </p:nvPicPr>
        <p:blipFill>
          <a:blip r:embed="rId3"/>
          <a:stretch>
            <a:fillRect/>
          </a:stretch>
        </p:blipFill>
        <p:spPr>
          <a:xfrm>
            <a:off x="6154044" y="960773"/>
            <a:ext cx="6037956" cy="2978181"/>
          </a:xfrm>
          <a:prstGeom prst="rect">
            <a:avLst/>
          </a:prstGeom>
        </p:spPr>
      </p:pic>
      <p:pic>
        <p:nvPicPr>
          <p:cNvPr id="11" name="Picture 10">
            <a:extLst>
              <a:ext uri="{FF2B5EF4-FFF2-40B4-BE49-F238E27FC236}">
                <a16:creationId xmlns:a16="http://schemas.microsoft.com/office/drawing/2014/main" id="{0198BA88-B6AF-0666-0CB1-92F1217BC5CE}"/>
              </a:ext>
            </a:extLst>
          </p:cNvPr>
          <p:cNvPicPr>
            <a:picLocks noChangeAspect="1"/>
          </p:cNvPicPr>
          <p:nvPr/>
        </p:nvPicPr>
        <p:blipFill>
          <a:blip r:embed="rId4"/>
          <a:stretch>
            <a:fillRect/>
          </a:stretch>
        </p:blipFill>
        <p:spPr>
          <a:xfrm>
            <a:off x="6077405" y="3961367"/>
            <a:ext cx="3095617" cy="2799228"/>
          </a:xfrm>
          <a:prstGeom prst="rect">
            <a:avLst/>
          </a:prstGeom>
        </p:spPr>
      </p:pic>
      <p:pic>
        <p:nvPicPr>
          <p:cNvPr id="13" name="Picture 12">
            <a:extLst>
              <a:ext uri="{FF2B5EF4-FFF2-40B4-BE49-F238E27FC236}">
                <a16:creationId xmlns:a16="http://schemas.microsoft.com/office/drawing/2014/main" id="{451C1060-49EF-BD94-020C-C5CADC057D28}"/>
              </a:ext>
            </a:extLst>
          </p:cNvPr>
          <p:cNvPicPr>
            <a:picLocks noChangeAspect="1"/>
          </p:cNvPicPr>
          <p:nvPr/>
        </p:nvPicPr>
        <p:blipFill>
          <a:blip r:embed="rId5"/>
          <a:stretch>
            <a:fillRect/>
          </a:stretch>
        </p:blipFill>
        <p:spPr>
          <a:xfrm>
            <a:off x="8995879" y="3938955"/>
            <a:ext cx="3122490" cy="2844052"/>
          </a:xfrm>
          <a:prstGeom prst="rect">
            <a:avLst/>
          </a:prstGeom>
        </p:spPr>
      </p:pic>
    </p:spTree>
    <p:extLst>
      <p:ext uri="{BB962C8B-B14F-4D97-AF65-F5344CB8AC3E}">
        <p14:creationId xmlns:p14="http://schemas.microsoft.com/office/powerpoint/2010/main" val="2371382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E17CB-99FA-7B7C-145A-9CC59E5980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F1F584-AD04-4327-35C0-20D599A5D81A}"/>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lang="en-SG" sz="2800" dirty="0"/>
              <a:t>Flat Price Analysis (Decomposition Tree)</a:t>
            </a:r>
            <a:endParaRPr sz="2800" dirty="0"/>
          </a:p>
        </p:txBody>
      </p:sp>
      <p:sp>
        <p:nvSpPr>
          <p:cNvPr id="3" name="TextBox 2">
            <a:extLst>
              <a:ext uri="{FF2B5EF4-FFF2-40B4-BE49-F238E27FC236}">
                <a16:creationId xmlns:a16="http://schemas.microsoft.com/office/drawing/2014/main" id="{CF9C36FA-556B-A923-207B-684177A66E03}"/>
              </a:ext>
            </a:extLst>
          </p:cNvPr>
          <p:cNvSpPr txBox="1"/>
          <p:nvPr/>
        </p:nvSpPr>
        <p:spPr>
          <a:xfrm>
            <a:off x="239901" y="4230160"/>
            <a:ext cx="5588022" cy="1692771"/>
          </a:xfrm>
          <a:prstGeom prst="rect">
            <a:avLst/>
          </a:prstGeom>
          <a:noFill/>
        </p:spPr>
        <p:txBody>
          <a:bodyPr wrap="square">
            <a:spAutoFit/>
          </a:bodyPr>
          <a:lstStyle/>
          <a:p>
            <a:pPr>
              <a:tabLst>
                <a:tab pos="266700" algn="l"/>
              </a:tabLst>
              <a:defRPr sz="1800">
                <a:solidFill>
                  <a:srgbClr val="3C3C3C"/>
                </a:solidFill>
              </a:defRPr>
            </a:pPr>
            <a:r>
              <a:rPr sz="2400" dirty="0"/>
              <a:t>•</a:t>
            </a:r>
            <a:r>
              <a:rPr lang="en-SG" sz="2400" dirty="0"/>
              <a:t> 	</a:t>
            </a:r>
            <a:r>
              <a:rPr lang="en-US" sz="2400" b="1" dirty="0">
                <a:solidFill>
                  <a:srgbClr val="3C3C3C"/>
                </a:solidFill>
              </a:rPr>
              <a:t>Highest prices: </a:t>
            </a:r>
          </a:p>
          <a:p>
            <a:pPr>
              <a:tabLst>
                <a:tab pos="266700" algn="l"/>
              </a:tabLst>
              <a:defRPr sz="1800">
                <a:solidFill>
                  <a:srgbClr val="3C3C3C"/>
                </a:solidFill>
              </a:defRPr>
            </a:pPr>
            <a:r>
              <a:rPr lang="en-US" sz="2400" b="1" dirty="0">
                <a:solidFill>
                  <a:srgbClr val="3C3C3C"/>
                </a:solidFill>
              </a:rPr>
              <a:t>   	</a:t>
            </a:r>
            <a:r>
              <a:rPr lang="en-US" sz="2000" dirty="0">
                <a:solidFill>
                  <a:srgbClr val="3C3C3C"/>
                </a:solidFill>
              </a:rPr>
              <a:t>Newer, larger, higher-floor flats in prime towns</a:t>
            </a:r>
            <a:endParaRPr lang="en-SG" sz="2400" dirty="0"/>
          </a:p>
          <a:p>
            <a:pPr>
              <a:defRPr sz="1800">
                <a:solidFill>
                  <a:srgbClr val="3C3C3C"/>
                </a:solidFill>
              </a:defRPr>
            </a:pPr>
            <a:br>
              <a:rPr sz="2800" dirty="0"/>
            </a:br>
            <a:endParaRPr sz="2800" dirty="0"/>
          </a:p>
        </p:txBody>
      </p:sp>
      <p:pic>
        <p:nvPicPr>
          <p:cNvPr id="10" name="Picture 9">
            <a:extLst>
              <a:ext uri="{FF2B5EF4-FFF2-40B4-BE49-F238E27FC236}">
                <a16:creationId xmlns:a16="http://schemas.microsoft.com/office/drawing/2014/main" id="{F93BBAC0-CA92-DB61-2CCF-C212A81FEC09}"/>
              </a:ext>
            </a:extLst>
          </p:cNvPr>
          <p:cNvPicPr>
            <a:picLocks noChangeAspect="1"/>
          </p:cNvPicPr>
          <p:nvPr/>
        </p:nvPicPr>
        <p:blipFill>
          <a:blip r:embed="rId3"/>
          <a:stretch>
            <a:fillRect/>
          </a:stretch>
        </p:blipFill>
        <p:spPr>
          <a:xfrm>
            <a:off x="6207534" y="1409589"/>
            <a:ext cx="5679502" cy="2740154"/>
          </a:xfrm>
          <a:prstGeom prst="rect">
            <a:avLst/>
          </a:prstGeom>
        </p:spPr>
      </p:pic>
      <p:pic>
        <p:nvPicPr>
          <p:cNvPr id="12" name="Picture 11">
            <a:extLst>
              <a:ext uri="{FF2B5EF4-FFF2-40B4-BE49-F238E27FC236}">
                <a16:creationId xmlns:a16="http://schemas.microsoft.com/office/drawing/2014/main" id="{2A61DAB7-5F79-A8B3-378E-73EFB51EADF0}"/>
              </a:ext>
            </a:extLst>
          </p:cNvPr>
          <p:cNvPicPr>
            <a:picLocks noChangeAspect="1"/>
          </p:cNvPicPr>
          <p:nvPr/>
        </p:nvPicPr>
        <p:blipFill>
          <a:blip r:embed="rId4"/>
          <a:stretch>
            <a:fillRect/>
          </a:stretch>
        </p:blipFill>
        <p:spPr>
          <a:xfrm>
            <a:off x="357563" y="1430259"/>
            <a:ext cx="5684361" cy="2735295"/>
          </a:xfrm>
          <a:prstGeom prst="rect">
            <a:avLst/>
          </a:prstGeom>
        </p:spPr>
      </p:pic>
      <p:sp>
        <p:nvSpPr>
          <p:cNvPr id="13" name="TextBox 12">
            <a:extLst>
              <a:ext uri="{FF2B5EF4-FFF2-40B4-BE49-F238E27FC236}">
                <a16:creationId xmlns:a16="http://schemas.microsoft.com/office/drawing/2014/main" id="{5D89BD73-289E-BDDA-2C21-757A06350759}"/>
              </a:ext>
            </a:extLst>
          </p:cNvPr>
          <p:cNvSpPr txBox="1"/>
          <p:nvPr/>
        </p:nvSpPr>
        <p:spPr>
          <a:xfrm>
            <a:off x="357564" y="1060928"/>
            <a:ext cx="3518821" cy="369332"/>
          </a:xfrm>
          <a:prstGeom prst="rect">
            <a:avLst/>
          </a:prstGeom>
          <a:solidFill>
            <a:schemeClr val="bg2"/>
          </a:solidFill>
        </p:spPr>
        <p:txBody>
          <a:bodyPr wrap="square" rtlCol="0">
            <a:spAutoFit/>
          </a:bodyPr>
          <a:lstStyle/>
          <a:p>
            <a:r>
              <a:rPr lang="en-SG" dirty="0">
                <a:solidFill>
                  <a:schemeClr val="accent2"/>
                </a:solidFill>
              </a:rPr>
              <a:t>Highest Resale Price for 5 room flat</a:t>
            </a:r>
          </a:p>
        </p:txBody>
      </p:sp>
      <p:sp>
        <p:nvSpPr>
          <p:cNvPr id="14" name="TextBox 13">
            <a:extLst>
              <a:ext uri="{FF2B5EF4-FFF2-40B4-BE49-F238E27FC236}">
                <a16:creationId xmlns:a16="http://schemas.microsoft.com/office/drawing/2014/main" id="{E3487C9A-AE5A-D94A-2466-6B6B6B4C39C2}"/>
              </a:ext>
            </a:extLst>
          </p:cNvPr>
          <p:cNvSpPr txBox="1"/>
          <p:nvPr/>
        </p:nvSpPr>
        <p:spPr>
          <a:xfrm>
            <a:off x="6207534" y="1040257"/>
            <a:ext cx="3518821" cy="369332"/>
          </a:xfrm>
          <a:prstGeom prst="rect">
            <a:avLst/>
          </a:prstGeom>
          <a:solidFill>
            <a:schemeClr val="bg2"/>
          </a:solidFill>
        </p:spPr>
        <p:txBody>
          <a:bodyPr wrap="square" rtlCol="0">
            <a:spAutoFit/>
          </a:bodyPr>
          <a:lstStyle/>
          <a:p>
            <a:r>
              <a:rPr lang="en-SG" dirty="0">
                <a:solidFill>
                  <a:schemeClr val="accent2"/>
                </a:solidFill>
              </a:rPr>
              <a:t>Lowest Resale Price for 5 room flat</a:t>
            </a:r>
          </a:p>
        </p:txBody>
      </p:sp>
      <p:sp>
        <p:nvSpPr>
          <p:cNvPr id="4" name="TextBox 3">
            <a:extLst>
              <a:ext uri="{FF2B5EF4-FFF2-40B4-BE49-F238E27FC236}">
                <a16:creationId xmlns:a16="http://schemas.microsoft.com/office/drawing/2014/main" id="{A3AC1483-94B9-A0B6-11AC-F54CC9F43C3B}"/>
              </a:ext>
            </a:extLst>
          </p:cNvPr>
          <p:cNvSpPr txBox="1"/>
          <p:nvPr/>
        </p:nvSpPr>
        <p:spPr>
          <a:xfrm>
            <a:off x="6119150" y="4230160"/>
            <a:ext cx="6011119" cy="1631216"/>
          </a:xfrm>
          <a:prstGeom prst="rect">
            <a:avLst/>
          </a:prstGeom>
          <a:noFill/>
        </p:spPr>
        <p:txBody>
          <a:bodyPr wrap="square">
            <a:spAutoFit/>
          </a:bodyPr>
          <a:lstStyle/>
          <a:p>
            <a:pPr>
              <a:tabLst>
                <a:tab pos="266700" algn="l"/>
              </a:tabLst>
              <a:defRPr sz="1800">
                <a:solidFill>
                  <a:srgbClr val="3C3C3C"/>
                </a:solidFill>
              </a:defRPr>
            </a:pPr>
            <a:r>
              <a:rPr lang="en-SG" sz="2400" b="1" dirty="0">
                <a:solidFill>
                  <a:srgbClr val="3C3C3C"/>
                </a:solidFill>
              </a:rPr>
              <a:t>• 	</a:t>
            </a:r>
            <a:r>
              <a:rPr lang="en-US" sz="2400" b="1" dirty="0">
                <a:solidFill>
                  <a:srgbClr val="3C3C3C"/>
                </a:solidFill>
              </a:rPr>
              <a:t>Lowest prices: </a:t>
            </a:r>
          </a:p>
          <a:p>
            <a:pPr>
              <a:tabLst>
                <a:tab pos="266700" algn="l"/>
              </a:tabLst>
              <a:defRPr sz="1800">
                <a:solidFill>
                  <a:srgbClr val="3C3C3C"/>
                </a:solidFill>
              </a:defRPr>
            </a:pPr>
            <a:r>
              <a:rPr lang="en-US" sz="2400" b="1" dirty="0">
                <a:solidFill>
                  <a:srgbClr val="3C3C3C"/>
                </a:solidFill>
              </a:rPr>
              <a:t>	</a:t>
            </a:r>
            <a:r>
              <a:rPr lang="en-US" sz="2000" dirty="0">
                <a:solidFill>
                  <a:srgbClr val="3C3C3C"/>
                </a:solidFill>
              </a:rPr>
              <a:t>Older, smaller, lower-floor flats in non-central areas</a:t>
            </a:r>
            <a:endParaRPr lang="en-SG" sz="2000" dirty="0">
              <a:solidFill>
                <a:srgbClr val="3C3C3C"/>
              </a:solidFill>
            </a:endParaRPr>
          </a:p>
          <a:p>
            <a:pPr>
              <a:defRPr sz="1800">
                <a:solidFill>
                  <a:srgbClr val="3C3C3C"/>
                </a:solidFill>
              </a:defRPr>
            </a:pPr>
            <a:endParaRPr lang="en-SG" sz="2400" dirty="0"/>
          </a:p>
          <a:p>
            <a:pPr>
              <a:defRPr sz="1800">
                <a:solidFill>
                  <a:srgbClr val="3C3C3C"/>
                </a:solidFill>
              </a:defRPr>
            </a:pPr>
            <a:endParaRPr sz="2800" dirty="0"/>
          </a:p>
        </p:txBody>
      </p:sp>
    </p:spTree>
    <p:extLst>
      <p:ext uri="{BB962C8B-B14F-4D97-AF65-F5344CB8AC3E}">
        <p14:creationId xmlns:p14="http://schemas.microsoft.com/office/powerpoint/2010/main" val="21972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82CFE-8790-A64A-80BE-08681EA518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404164-0AAC-031A-CEED-DB44CD004354}"/>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Conclusions </a:t>
            </a:r>
          </a:p>
        </p:txBody>
      </p:sp>
      <p:sp>
        <p:nvSpPr>
          <p:cNvPr id="3" name="TextBox 2">
            <a:extLst>
              <a:ext uri="{FF2B5EF4-FFF2-40B4-BE49-F238E27FC236}">
                <a16:creationId xmlns:a16="http://schemas.microsoft.com/office/drawing/2014/main" id="{F41A6875-CCD2-D361-836A-BE25C0C7CA9D}"/>
              </a:ext>
            </a:extLst>
          </p:cNvPr>
          <p:cNvSpPr txBox="1"/>
          <p:nvPr/>
        </p:nvSpPr>
        <p:spPr>
          <a:xfrm>
            <a:off x="1617945" y="856357"/>
            <a:ext cx="8686800" cy="5139869"/>
          </a:xfrm>
          <a:prstGeom prst="rect">
            <a:avLst/>
          </a:prstGeom>
          <a:noFill/>
        </p:spPr>
        <p:txBody>
          <a:bodyPr wrap="square">
            <a:spAutoFit/>
          </a:bodyPr>
          <a:lstStyle/>
          <a:p>
            <a:pPr>
              <a:defRPr sz="1800">
                <a:solidFill>
                  <a:srgbClr val="3C3C3C"/>
                </a:solidFill>
              </a:defRPr>
            </a:pPr>
            <a:endParaRPr lang="en-SG" sz="2800" b="1" dirty="0"/>
          </a:p>
          <a:p>
            <a:pPr>
              <a:defRPr sz="1800">
                <a:solidFill>
                  <a:srgbClr val="3C3C3C"/>
                </a:solidFill>
              </a:defRPr>
            </a:pPr>
            <a:r>
              <a:rPr sz="2800" b="1" dirty="0"/>
              <a:t>Key Takeaways:</a:t>
            </a:r>
            <a:br>
              <a:rPr sz="2800" dirty="0"/>
            </a:br>
            <a:r>
              <a:rPr lang="en-SG" sz="2800" dirty="0"/>
              <a:t>	</a:t>
            </a:r>
          </a:p>
          <a:p>
            <a:pPr>
              <a:defRPr sz="1800">
                <a:solidFill>
                  <a:srgbClr val="3C3C3C"/>
                </a:solidFill>
              </a:defRPr>
            </a:pPr>
            <a:r>
              <a:rPr lang="en-SG" sz="2800" dirty="0"/>
              <a:t>	</a:t>
            </a:r>
            <a:r>
              <a:rPr sz="2400" dirty="0"/>
              <a:t>• </a:t>
            </a:r>
            <a:r>
              <a:rPr lang="en-SG" sz="2400" dirty="0"/>
              <a:t>	</a:t>
            </a:r>
            <a:r>
              <a:rPr sz="2400" dirty="0"/>
              <a:t>HDB resale prices have shown long-term appreciation </a:t>
            </a:r>
            <a:r>
              <a:rPr lang="en-SG" sz="2400" dirty="0"/>
              <a:t>				</a:t>
            </a:r>
            <a:r>
              <a:rPr sz="2400" dirty="0"/>
              <a:t>despite short-term fluctuations.</a:t>
            </a:r>
            <a:endParaRPr lang="en-SG" sz="2400" dirty="0"/>
          </a:p>
          <a:p>
            <a:pPr>
              <a:defRPr sz="1800">
                <a:solidFill>
                  <a:srgbClr val="3C3C3C"/>
                </a:solidFill>
              </a:defRPr>
            </a:pPr>
            <a:br>
              <a:rPr sz="2400" dirty="0"/>
            </a:br>
            <a:r>
              <a:rPr lang="en-SG" sz="2400" dirty="0"/>
              <a:t>	</a:t>
            </a:r>
            <a:r>
              <a:rPr sz="2400" dirty="0"/>
              <a:t>• </a:t>
            </a:r>
            <a:r>
              <a:rPr lang="en-SG" sz="2400" dirty="0"/>
              <a:t>	Flats, located at the Central Region, with a higher storey 			level and a younger age, tend to command a higher 				resale price.</a:t>
            </a:r>
          </a:p>
          <a:p>
            <a:pPr>
              <a:defRPr sz="1800">
                <a:solidFill>
                  <a:srgbClr val="3C3C3C"/>
                </a:solidFill>
              </a:defRPr>
            </a:pPr>
            <a:br>
              <a:rPr sz="2400" dirty="0"/>
            </a:br>
            <a:r>
              <a:rPr lang="en-SG" sz="2400" dirty="0"/>
              <a:t>	</a:t>
            </a:r>
            <a:r>
              <a:rPr sz="2400" dirty="0"/>
              <a:t>• </a:t>
            </a:r>
            <a:r>
              <a:rPr lang="en-SG" sz="2400" dirty="0"/>
              <a:t>	</a:t>
            </a:r>
            <a:r>
              <a:rPr sz="2400" dirty="0"/>
              <a:t>Market movements align closely with macroeconomic </a:t>
            </a:r>
            <a:r>
              <a:rPr lang="en-SG" sz="2400" dirty="0"/>
              <a:t>				</a:t>
            </a:r>
            <a:r>
              <a:rPr sz="2400" dirty="0"/>
              <a:t>and policy shifts.</a:t>
            </a:r>
            <a:br>
              <a:rPr sz="2400" dirty="0"/>
            </a:br>
            <a:r>
              <a:rPr lang="en-SG" sz="2400" dirty="0"/>
              <a:t>.</a:t>
            </a:r>
            <a:endParaRPr sz="2400" dirty="0"/>
          </a:p>
        </p:txBody>
      </p:sp>
    </p:spTree>
    <p:extLst>
      <p:ext uri="{BB962C8B-B14F-4D97-AF65-F5344CB8AC3E}">
        <p14:creationId xmlns:p14="http://schemas.microsoft.com/office/powerpoint/2010/main" val="924385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3E39-CFF9-BBA9-D308-779298DDB0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854AD9-F8E2-7BF8-1308-96DB4663A8BF}"/>
              </a:ext>
            </a:extLst>
          </p:cNvPr>
          <p:cNvSpPr/>
          <p:nvPr/>
        </p:nvSpPr>
        <p:spPr>
          <a:xfrm>
            <a:off x="0" y="0"/>
            <a:ext cx="12192000" cy="9144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sz="4000" dirty="0"/>
              <a:t> Recommendations</a:t>
            </a:r>
          </a:p>
        </p:txBody>
      </p:sp>
      <p:sp>
        <p:nvSpPr>
          <p:cNvPr id="3" name="TextBox 2">
            <a:extLst>
              <a:ext uri="{FF2B5EF4-FFF2-40B4-BE49-F238E27FC236}">
                <a16:creationId xmlns:a16="http://schemas.microsoft.com/office/drawing/2014/main" id="{20E2DF44-05E6-A06A-AFA6-CFA8F3EAA821}"/>
              </a:ext>
            </a:extLst>
          </p:cNvPr>
          <p:cNvSpPr txBox="1"/>
          <p:nvPr/>
        </p:nvSpPr>
        <p:spPr>
          <a:xfrm>
            <a:off x="1617945" y="856357"/>
            <a:ext cx="8686800" cy="5078313"/>
          </a:xfrm>
          <a:prstGeom prst="rect">
            <a:avLst/>
          </a:prstGeom>
          <a:noFill/>
        </p:spPr>
        <p:txBody>
          <a:bodyPr wrap="square">
            <a:spAutoFit/>
          </a:bodyPr>
          <a:lstStyle/>
          <a:p>
            <a:pPr>
              <a:defRPr sz="1800">
                <a:solidFill>
                  <a:srgbClr val="3C3C3C"/>
                </a:solidFill>
              </a:defRPr>
            </a:pPr>
            <a:endParaRPr lang="en-SG" sz="2800" b="1" dirty="0"/>
          </a:p>
          <a:p>
            <a:pPr>
              <a:defRPr sz="1800">
                <a:solidFill>
                  <a:srgbClr val="3C3C3C"/>
                </a:solidFill>
              </a:defRPr>
            </a:pPr>
            <a:r>
              <a:rPr sz="2800" b="1" dirty="0"/>
              <a:t>Recommendations:</a:t>
            </a:r>
            <a:endParaRPr lang="en-SG" sz="2800" b="1" dirty="0"/>
          </a:p>
          <a:p>
            <a:pPr>
              <a:defRPr sz="1800">
                <a:solidFill>
                  <a:srgbClr val="3C3C3C"/>
                </a:solidFill>
              </a:defRPr>
            </a:pPr>
            <a:br>
              <a:rPr sz="2600" dirty="0"/>
            </a:br>
            <a:r>
              <a:rPr lang="en-SG" sz="2600" dirty="0"/>
              <a:t>	</a:t>
            </a:r>
            <a:r>
              <a:rPr sz="2400" dirty="0"/>
              <a:t>• </a:t>
            </a:r>
            <a:r>
              <a:rPr lang="en-SG" sz="2400" b="1" dirty="0"/>
              <a:t>Home Buyers : 	</a:t>
            </a:r>
            <a:r>
              <a:rPr lang="en-US" sz="2400" dirty="0">
                <a:solidFill>
                  <a:srgbClr val="3C3C3C"/>
                </a:solidFill>
              </a:rPr>
              <a:t>Consider outer towns, older flats, or lower 							floors for more affordable options</a:t>
            </a:r>
            <a:r>
              <a:rPr lang="en-US" sz="2400" b="1" dirty="0">
                <a:solidFill>
                  <a:srgbClr val="3C3C3C"/>
                </a:solidFill>
              </a:rPr>
              <a:t>.</a:t>
            </a:r>
            <a:endParaRPr lang="en-SG" sz="2400" b="1" dirty="0">
              <a:solidFill>
                <a:srgbClr val="3C3C3C"/>
              </a:solidFill>
            </a:endParaRPr>
          </a:p>
          <a:p>
            <a:pPr>
              <a:defRPr sz="1800">
                <a:solidFill>
                  <a:srgbClr val="3C3C3C"/>
                </a:solidFill>
              </a:defRPr>
            </a:pPr>
            <a:r>
              <a:rPr lang="en-SG" sz="2400" dirty="0"/>
              <a:t>	</a:t>
            </a:r>
          </a:p>
          <a:p>
            <a:pPr>
              <a:defRPr sz="1800">
                <a:solidFill>
                  <a:srgbClr val="3C3C3C"/>
                </a:solidFill>
              </a:defRPr>
            </a:pPr>
            <a:r>
              <a:rPr lang="en-SG" sz="2400" dirty="0"/>
              <a:t>	</a:t>
            </a:r>
            <a:r>
              <a:rPr lang="en-US" sz="2400" dirty="0"/>
              <a:t>• </a:t>
            </a:r>
            <a:r>
              <a:rPr lang="en-US" sz="2400" b="1" dirty="0"/>
              <a:t>Policymakers:	</a:t>
            </a:r>
            <a:r>
              <a:rPr lang="en-US" sz="2400" dirty="0">
                <a:solidFill>
                  <a:srgbClr val="3C3C3C"/>
                </a:solidFill>
              </a:rPr>
              <a:t>Support balanced development and monitor 						high-demand areas to maintain affordability.</a:t>
            </a:r>
          </a:p>
          <a:p>
            <a:pPr>
              <a:defRPr sz="1800">
                <a:solidFill>
                  <a:srgbClr val="3C3C3C"/>
                </a:solidFill>
              </a:defRPr>
            </a:pPr>
            <a:br>
              <a:rPr lang="en-US" sz="2400" dirty="0"/>
            </a:br>
            <a:r>
              <a:rPr lang="en-SG" sz="2400" dirty="0"/>
              <a:t>	</a:t>
            </a:r>
            <a:r>
              <a:rPr sz="2400" dirty="0"/>
              <a:t>• </a:t>
            </a:r>
            <a:r>
              <a:rPr sz="2400" b="1" dirty="0"/>
              <a:t>Analysts:</a:t>
            </a:r>
            <a:r>
              <a:rPr lang="en-SG" sz="2400" b="1" dirty="0"/>
              <a:t>			</a:t>
            </a:r>
            <a:r>
              <a:rPr lang="en-US" sz="2400" dirty="0">
                <a:solidFill>
                  <a:srgbClr val="3C3C3C"/>
                </a:solidFill>
              </a:rPr>
              <a:t>Include flat age, size, floor, and 										</a:t>
            </a:r>
            <a:r>
              <a:rPr lang="en-SG" sz="2400" dirty="0">
                <a:solidFill>
                  <a:srgbClr val="3C3C3C"/>
                </a:solidFill>
              </a:rPr>
              <a:t>macroeconomics factors  (e.g. recession 								periods) </a:t>
            </a:r>
            <a:r>
              <a:rPr lang="en-US" sz="2400" dirty="0">
                <a:solidFill>
                  <a:srgbClr val="3C3C3C"/>
                </a:solidFill>
              </a:rPr>
              <a:t>when analyzing or forecasting prices.</a:t>
            </a:r>
          </a:p>
          <a:p>
            <a:pPr>
              <a:defRPr sz="1800">
                <a:solidFill>
                  <a:srgbClr val="3C3C3C"/>
                </a:solidFill>
              </a:defRPr>
            </a:pPr>
            <a:endParaRPr sz="2400" dirty="0">
              <a:solidFill>
                <a:srgbClr val="3C3C3C"/>
              </a:solidFill>
            </a:endParaRPr>
          </a:p>
        </p:txBody>
      </p:sp>
    </p:spTree>
    <p:extLst>
      <p:ext uri="{BB962C8B-B14F-4D97-AF65-F5344CB8AC3E}">
        <p14:creationId xmlns:p14="http://schemas.microsoft.com/office/powerpoint/2010/main" val="331683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626D-31C7-6F77-CDC8-82C895760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78E1B-EFB8-5B9F-0703-C6FF032D863B}"/>
              </a:ext>
            </a:extLst>
          </p:cNvPr>
          <p:cNvSpPr>
            <a:spLocks noGrp="1"/>
          </p:cNvSpPr>
          <p:nvPr>
            <p:ph type="ctrTitle"/>
          </p:nvPr>
        </p:nvSpPr>
        <p:spPr>
          <a:solidFill>
            <a:schemeClr val="tx2"/>
          </a:solidFill>
        </p:spPr>
        <p:txBody>
          <a:bodyPr/>
          <a:lstStyle/>
          <a:p>
            <a:r>
              <a:rPr lang="en-SG" dirty="0">
                <a:solidFill>
                  <a:schemeClr val="bg1"/>
                </a:solidFill>
              </a:rPr>
              <a:t>Thank You</a:t>
            </a:r>
          </a:p>
        </p:txBody>
      </p:sp>
      <p:sp>
        <p:nvSpPr>
          <p:cNvPr id="5" name="Subtitle 4">
            <a:extLst>
              <a:ext uri="{FF2B5EF4-FFF2-40B4-BE49-F238E27FC236}">
                <a16:creationId xmlns:a16="http://schemas.microsoft.com/office/drawing/2014/main" id="{25C0821A-367D-B603-6DCC-2BD6CFD8F10D}"/>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3324640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4520</TotalTime>
  <Words>1316</Words>
  <Application>Microsoft Office PowerPoint</Application>
  <PresentationFormat>Widescreen</PresentationFormat>
  <Paragraphs>165</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Courier New</vt:lpstr>
      <vt:lpstr>Wingdings</vt:lpstr>
      <vt:lpstr>Office Theme</vt:lpstr>
      <vt:lpstr>HDB Resale Market Data Analysis</vt:lpstr>
      <vt:lpstr>PowerPoint Presentation</vt:lpstr>
      <vt:lpstr>PowerPoint Presentation</vt:lpstr>
      <vt:lpstr>PowerPoint Presentation</vt:lpstr>
      <vt:lpstr>PowerPoint Presentation</vt:lpstr>
      <vt:lpstr>PowerPoint Presentation</vt:lpstr>
      <vt:lpstr>PowerPoint Presentation</vt:lpstr>
      <vt:lpstr>SQL-Based Analysis</vt:lpstr>
      <vt:lpstr>Market Cluster Classification </vt:lpstr>
      <vt:lpstr>Central vs Non-Central Market Comparison</vt:lpstr>
      <vt:lpstr>Power BI Visual Insights</vt:lpstr>
      <vt:lpstr>HDB Sales Market Overview</vt:lpstr>
      <vt:lpstr>Long-Term Market Trends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Sheeba Soosai</dc:creator>
  <cp:keywords/>
  <dc:description>generated using python-pptx</dc:description>
  <cp:lastModifiedBy>Sheeba Soosai</cp:lastModifiedBy>
  <cp:revision>53</cp:revision>
  <dcterms:created xsi:type="dcterms:W3CDTF">2013-01-27T09:14:16Z</dcterms:created>
  <dcterms:modified xsi:type="dcterms:W3CDTF">2026-03-07T10:21:39Z</dcterms:modified>
  <cp:category/>
</cp:coreProperties>
</file>